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Cabin" charset="1" panose="00000500000000000000"/>
      <p:regular r:id="rId48"/>
    </p:embeddedFont>
    <p:embeddedFont>
      <p:font typeface="Muli Bold" charset="1" panose="00000800000000000000"/>
      <p:regular r:id="rId49"/>
    </p:embeddedFont>
    <p:embeddedFont>
      <p:font typeface="Paytone One" charset="1" panose="00000500000000000000"/>
      <p:regular r:id="rId50"/>
    </p:embeddedFont>
    <p:embeddedFont>
      <p:font typeface="Cabin Bold" charset="1" panose="00000800000000000000"/>
      <p:regular r:id="rId51"/>
    </p:embeddedFont>
    <p:embeddedFont>
      <p:font typeface="Muli" charset="1" panose="00000500000000000000"/>
      <p:regular r:id="rId52"/>
    </p:embeddedFont>
    <p:embeddedFont>
      <p:font typeface="Cabin Bold Italics" charset="1" panose="0000080000000000000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1315441"/>
            <a:ext cx="9009410" cy="6082798"/>
            <a:chOff x="0" y="0"/>
            <a:chExt cx="3286657" cy="2219021"/>
          </a:xfrm>
        </p:grpSpPr>
        <p:sp>
          <p:nvSpPr>
            <p:cNvPr name="Freeform 4" id="4"/>
            <p:cNvSpPr/>
            <p:nvPr/>
          </p:nvSpPr>
          <p:spPr>
            <a:xfrm flipH="false" flipV="false" rot="0">
              <a:off x="0" y="0"/>
              <a:ext cx="3286657" cy="2219021"/>
            </a:xfrm>
            <a:custGeom>
              <a:avLst/>
              <a:gdLst/>
              <a:ahLst/>
              <a:cxnLst/>
              <a:rect r="r" b="b" t="t" l="l"/>
              <a:pathLst>
                <a:path h="2219021" w="3286657">
                  <a:moveTo>
                    <a:pt x="0" y="0"/>
                  </a:moveTo>
                  <a:lnTo>
                    <a:pt x="3286657" y="0"/>
                  </a:lnTo>
                  <a:lnTo>
                    <a:pt x="3286657" y="2219021"/>
                  </a:lnTo>
                  <a:lnTo>
                    <a:pt x="0" y="2219021"/>
                  </a:lnTo>
                  <a:close/>
                </a:path>
              </a:pathLst>
            </a:custGeom>
            <a:solidFill>
              <a:srgbClr val="FFFFFF"/>
            </a:solidFill>
          </p:spPr>
        </p:sp>
      </p:grpSp>
      <p:sp>
        <p:nvSpPr>
          <p:cNvPr name="Freeform 5" id="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61150" y="1315441"/>
            <a:ext cx="7087021" cy="7701883"/>
            <a:chOff x="0" y="0"/>
            <a:chExt cx="2585364" cy="2809668"/>
          </a:xfrm>
        </p:grpSpPr>
        <p:sp>
          <p:nvSpPr>
            <p:cNvPr name="Freeform 8" id="8"/>
            <p:cNvSpPr/>
            <p:nvPr/>
          </p:nvSpPr>
          <p:spPr>
            <a:xfrm flipH="false" flipV="false" rot="0">
              <a:off x="0" y="0"/>
              <a:ext cx="2585364" cy="2809668"/>
            </a:xfrm>
            <a:custGeom>
              <a:avLst/>
              <a:gdLst/>
              <a:ahLst/>
              <a:cxnLst/>
              <a:rect r="r" b="b" t="t" l="l"/>
              <a:pathLst>
                <a:path h="2809668" w="2585364">
                  <a:moveTo>
                    <a:pt x="0" y="0"/>
                  </a:moveTo>
                  <a:lnTo>
                    <a:pt x="2585364" y="0"/>
                  </a:lnTo>
                  <a:lnTo>
                    <a:pt x="2585364" y="2809668"/>
                  </a:lnTo>
                  <a:lnTo>
                    <a:pt x="0" y="2809668"/>
                  </a:lnTo>
                  <a:close/>
                </a:path>
              </a:pathLst>
            </a:custGeom>
            <a:solidFill>
              <a:srgbClr val="FFFFFF"/>
            </a:solidFill>
          </p:spPr>
        </p:sp>
      </p:grpSp>
      <p:sp>
        <p:nvSpPr>
          <p:cNvPr name="Freeform 9" id="9"/>
          <p:cNvSpPr/>
          <p:nvPr/>
        </p:nvSpPr>
        <p:spPr>
          <a:xfrm flipH="false" flipV="false" rot="0">
            <a:off x="10692016" y="4401714"/>
            <a:ext cx="6225288" cy="3893634"/>
          </a:xfrm>
          <a:custGeom>
            <a:avLst/>
            <a:gdLst/>
            <a:ahLst/>
            <a:cxnLst/>
            <a:rect r="r" b="b" t="t" l="l"/>
            <a:pathLst>
              <a:path h="3893634" w="6225288">
                <a:moveTo>
                  <a:pt x="0" y="0"/>
                </a:moveTo>
                <a:lnTo>
                  <a:pt x="6225288" y="0"/>
                </a:lnTo>
                <a:lnTo>
                  <a:pt x="6225288" y="3893634"/>
                </a:lnTo>
                <a:lnTo>
                  <a:pt x="0" y="38936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6100246" y="300172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203414">
            <a:off x="11173930" y="3499519"/>
            <a:ext cx="321948" cy="461574"/>
          </a:xfrm>
          <a:custGeom>
            <a:avLst/>
            <a:gdLst/>
            <a:ahLst/>
            <a:cxnLst/>
            <a:rect r="r" b="b" t="t" l="l"/>
            <a:pathLst>
              <a:path h="461574" w="321948">
                <a:moveTo>
                  <a:pt x="0" y="0"/>
                </a:moveTo>
                <a:lnTo>
                  <a:pt x="321948" y="0"/>
                </a:lnTo>
                <a:lnTo>
                  <a:pt x="321948" y="461574"/>
                </a:lnTo>
                <a:lnTo>
                  <a:pt x="0" y="461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887383" y="7949002"/>
            <a:ext cx="3544008" cy="1209751"/>
            <a:chOff x="0" y="0"/>
            <a:chExt cx="4725344" cy="1613001"/>
          </a:xfrm>
        </p:grpSpPr>
        <p:grpSp>
          <p:nvGrpSpPr>
            <p:cNvPr name="Group 13" id="13"/>
            <p:cNvGrpSpPr/>
            <p:nvPr/>
          </p:nvGrpSpPr>
          <p:grpSpPr>
            <a:xfrm rot="0">
              <a:off x="0" y="0"/>
              <a:ext cx="4725344" cy="1613001"/>
              <a:chOff x="0" y="0"/>
              <a:chExt cx="1292864" cy="441320"/>
            </a:xfrm>
          </p:grpSpPr>
          <p:sp>
            <p:nvSpPr>
              <p:cNvPr name="Freeform 14" id="14"/>
              <p:cNvSpPr/>
              <p:nvPr/>
            </p:nvSpPr>
            <p:spPr>
              <a:xfrm flipH="false" flipV="false" rot="0">
                <a:off x="0" y="0"/>
                <a:ext cx="1292864" cy="441320"/>
              </a:xfrm>
              <a:custGeom>
                <a:avLst/>
                <a:gdLst/>
                <a:ahLst/>
                <a:cxnLst/>
                <a:rect r="r" b="b" t="t" l="l"/>
                <a:pathLst>
                  <a:path h="441320" w="1292864">
                    <a:moveTo>
                      <a:pt x="0" y="0"/>
                    </a:moveTo>
                    <a:lnTo>
                      <a:pt x="1292864" y="0"/>
                    </a:lnTo>
                    <a:lnTo>
                      <a:pt x="1292864" y="441320"/>
                    </a:lnTo>
                    <a:lnTo>
                      <a:pt x="0" y="441320"/>
                    </a:lnTo>
                    <a:close/>
                  </a:path>
                </a:pathLst>
              </a:custGeom>
              <a:solidFill>
                <a:srgbClr val="FFFFFF"/>
              </a:solidFill>
            </p:spPr>
          </p:sp>
        </p:grpSp>
        <p:sp>
          <p:nvSpPr>
            <p:cNvPr name="Freeform 15" id="15"/>
            <p:cNvSpPr/>
            <p:nvPr/>
          </p:nvSpPr>
          <p:spPr>
            <a:xfrm flipH="false" flipV="false" rot="0">
              <a:off x="289760" y="476912"/>
              <a:ext cx="974589" cy="659177"/>
            </a:xfrm>
            <a:custGeom>
              <a:avLst/>
              <a:gdLst/>
              <a:ahLst/>
              <a:cxnLst/>
              <a:rect r="r" b="b" t="t" l="l"/>
              <a:pathLst>
                <a:path h="659177" w="974589">
                  <a:moveTo>
                    <a:pt x="0" y="0"/>
                  </a:moveTo>
                  <a:lnTo>
                    <a:pt x="974589" y="0"/>
                  </a:lnTo>
                  <a:lnTo>
                    <a:pt x="974589" y="659177"/>
                  </a:lnTo>
                  <a:lnTo>
                    <a:pt x="0" y="6591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583848" y="520115"/>
              <a:ext cx="2923289" cy="52514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Cabin"/>
                  <a:ea typeface="Cabin"/>
                  <a:cs typeface="Cabin"/>
                  <a:sym typeface="Cabin"/>
                </a:rPr>
                <a:t>L03</a:t>
              </a:r>
            </a:p>
          </p:txBody>
        </p:sp>
      </p:grpSp>
      <p:sp>
        <p:nvSpPr>
          <p:cNvPr name="Freeform 17" id="17"/>
          <p:cNvSpPr/>
          <p:nvPr/>
        </p:nvSpPr>
        <p:spPr>
          <a:xfrm flipH="false" flipV="false" rot="0">
            <a:off x="12690344" y="1991652"/>
            <a:ext cx="2228632" cy="1815322"/>
          </a:xfrm>
          <a:custGeom>
            <a:avLst/>
            <a:gdLst/>
            <a:ahLst/>
            <a:cxnLst/>
            <a:rect r="r" b="b" t="t" l="l"/>
            <a:pathLst>
              <a:path h="1815322" w="2228632">
                <a:moveTo>
                  <a:pt x="0" y="0"/>
                </a:moveTo>
                <a:lnTo>
                  <a:pt x="2228632" y="0"/>
                </a:lnTo>
                <a:lnTo>
                  <a:pt x="2228632" y="1815322"/>
                </a:lnTo>
                <a:lnTo>
                  <a:pt x="0" y="181532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8" id="18"/>
          <p:cNvGrpSpPr/>
          <p:nvPr/>
        </p:nvGrpSpPr>
        <p:grpSpPr>
          <a:xfrm rot="0">
            <a:off x="1437079" y="2382791"/>
            <a:ext cx="7946241" cy="4037845"/>
            <a:chOff x="0" y="0"/>
            <a:chExt cx="10594989" cy="5383793"/>
          </a:xfrm>
        </p:grpSpPr>
        <p:sp>
          <p:nvSpPr>
            <p:cNvPr name="TextBox 19" id="19"/>
            <p:cNvSpPr txBox="true"/>
            <p:nvPr/>
          </p:nvSpPr>
          <p:spPr>
            <a:xfrm rot="0">
              <a:off x="0" y="-161925"/>
              <a:ext cx="10594989" cy="4631059"/>
            </a:xfrm>
            <a:prstGeom prst="rect">
              <a:avLst/>
            </a:prstGeom>
          </p:spPr>
          <p:txBody>
            <a:bodyPr anchor="t" rtlCol="false" tIns="0" lIns="0" bIns="0" rIns="0">
              <a:spAutoFit/>
            </a:bodyPr>
            <a:lstStyle/>
            <a:p>
              <a:pPr algn="l">
                <a:lnSpc>
                  <a:spcPts val="12599"/>
                </a:lnSpc>
              </a:pPr>
              <a:r>
                <a:rPr lang="en-US" sz="9000" spc="-135" b="true">
                  <a:solidFill>
                    <a:srgbClr val="003EA8"/>
                  </a:solidFill>
                  <a:latin typeface="Muli Bold"/>
                  <a:ea typeface="Muli Bold"/>
                  <a:cs typeface="Muli Bold"/>
                  <a:sym typeface="Muli Bold"/>
                </a:rPr>
                <a:t>Bài tập lớn 1:</a:t>
              </a:r>
            </a:p>
            <a:p>
              <a:pPr algn="l">
                <a:lnSpc>
                  <a:spcPts val="15854"/>
                </a:lnSpc>
              </a:pPr>
              <a:r>
                <a:rPr lang="en-US" sz="11324" spc="-169">
                  <a:solidFill>
                    <a:srgbClr val="003EA8"/>
                  </a:solidFill>
                  <a:latin typeface="Paytone One"/>
                  <a:ea typeface="Paytone One"/>
                  <a:cs typeface="Paytone One"/>
                  <a:sym typeface="Paytone One"/>
                </a:rPr>
                <a:t>TÌM KIẾM</a:t>
              </a:r>
            </a:p>
          </p:txBody>
        </p:sp>
        <p:sp>
          <p:nvSpPr>
            <p:cNvPr name="TextBox 20" id="20"/>
            <p:cNvSpPr txBox="true"/>
            <p:nvPr/>
          </p:nvSpPr>
          <p:spPr>
            <a:xfrm rot="0">
              <a:off x="0" y="4824993"/>
              <a:ext cx="10594989" cy="558800"/>
            </a:xfrm>
            <a:prstGeom prst="rect">
              <a:avLst/>
            </a:prstGeom>
          </p:spPr>
          <p:txBody>
            <a:bodyPr anchor="t" rtlCol="false" tIns="0" lIns="0" bIns="0" rIns="0">
              <a:spAutoFit/>
            </a:bodyPr>
            <a:lstStyle/>
            <a:p>
              <a:pPr algn="l">
                <a:lnSpc>
                  <a:spcPts val="3359"/>
                </a:lnSpc>
              </a:pPr>
              <a:r>
                <a:rPr lang="en-US" sz="2799">
                  <a:solidFill>
                    <a:srgbClr val="000000"/>
                  </a:solidFill>
                  <a:latin typeface="Cabin"/>
                  <a:ea typeface="Cabin"/>
                  <a:cs typeface="Cabin"/>
                  <a:sym typeface="Cabin"/>
                </a:rPr>
                <a:t>Nhập môn Trí tuệ Nhân tạo </a:t>
              </a:r>
              <a:r>
                <a:rPr lang="en-US" sz="2799">
                  <a:solidFill>
                    <a:srgbClr val="003EA8"/>
                  </a:solidFill>
                  <a:latin typeface="Cabin"/>
                  <a:ea typeface="Cabin"/>
                  <a:cs typeface="Cabin"/>
                  <a:sym typeface="Cabin"/>
                </a:rPr>
                <a:t>(CO3061)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100246" y="300172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6" id="6"/>
          <p:cNvGraphicFramePr>
            <a:graphicFrameLocks noGrp="true"/>
          </p:cNvGraphicFramePr>
          <p:nvPr/>
        </p:nvGraphicFramePr>
        <p:xfrm>
          <a:off x="4156602" y="3318294"/>
          <a:ext cx="9974795" cy="4291605"/>
        </p:xfrm>
        <a:graphic>
          <a:graphicData uri="http://schemas.openxmlformats.org/drawingml/2006/table">
            <a:tbl>
              <a:tblPr/>
              <a:tblGrid>
                <a:gridCol w="4927344"/>
                <a:gridCol w="5047452"/>
              </a:tblGrid>
              <a:tr h="1066745">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Vũ Minh Sang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2312944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66745">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Nguyễn</a:t>
                      </a:r>
                      <a:r>
                        <a:rPr lang="en-US" b="true" sz="3000">
                          <a:solidFill>
                            <a:srgbClr val="000000"/>
                          </a:solidFill>
                          <a:latin typeface="Cabin Bold"/>
                          <a:ea typeface="Cabin Bold"/>
                          <a:cs typeface="Cabin Bold"/>
                          <a:sym typeface="Cabin Bold"/>
                        </a:rPr>
                        <a:t> Đình </a:t>
                      </a:r>
                      <a:r>
                        <a:rPr lang="en-US" b="true" sz="3000">
                          <a:solidFill>
                            <a:srgbClr val="000000"/>
                          </a:solidFill>
                          <a:latin typeface="Cabin Bold"/>
                          <a:ea typeface="Cabin Bold"/>
                          <a:cs typeface="Cabin Bold"/>
                          <a:sym typeface="Cabin Bold"/>
                        </a:rPr>
                        <a:t>Khang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2411451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66745">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Nguyễn Đình Khôi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4200"/>
                        </a:lnSpc>
                        <a:spcBef>
                          <a:spcPct val="0"/>
                        </a:spcBef>
                        <a:defRPr/>
                      </a:pPr>
                      <a:r>
                        <a:rPr lang="en-US" b="true" sz="3000" strike="noStrike" u="none">
                          <a:solidFill>
                            <a:srgbClr val="000000"/>
                          </a:solidFill>
                          <a:latin typeface="Cabin Bold"/>
                          <a:ea typeface="Cabin Bold"/>
                          <a:cs typeface="Cabin Bold"/>
                          <a:sym typeface="Cabin Bold"/>
                        </a:rPr>
                        <a:t>23116</a:t>
                      </a:r>
                      <a:r>
                        <a:rPr lang="en-US" b="true" sz="3000" strike="noStrike" u="none">
                          <a:solidFill>
                            <a:srgbClr val="000000"/>
                          </a:solidFill>
                          <a:latin typeface="Cabin Bold"/>
                          <a:ea typeface="Cabin Bold"/>
                          <a:cs typeface="Cabin Bold"/>
                          <a:sym typeface="Cabin Bold"/>
                        </a:rPr>
                        <a:t>81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91369">
                <a:tc>
                  <a:txBody>
                    <a:bodyPr anchor="t" rtlCol="false"/>
                    <a:lstStyle/>
                    <a:p>
                      <a:pPr algn="ctr" marL="0" indent="0" lvl="0">
                        <a:lnSpc>
                          <a:spcPts val="4200"/>
                        </a:lnSpc>
                        <a:spcBef>
                          <a:spcPct val="0"/>
                        </a:spcBef>
                        <a:defRPr/>
                      </a:pPr>
                      <a:r>
                        <a:rPr lang="en-US" b="true" sz="3000">
                          <a:solidFill>
                            <a:srgbClr val="000000"/>
                          </a:solidFill>
                          <a:latin typeface="Cabin Bold"/>
                          <a:ea typeface="Cabin Bold"/>
                          <a:cs typeface="Cabin Bold"/>
                          <a:sym typeface="Cabin Bold"/>
                        </a:rPr>
                        <a:t>Đậu Minh Khôi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4200"/>
                        </a:lnSpc>
                        <a:spcBef>
                          <a:spcPct val="0"/>
                        </a:spcBef>
                        <a:defRPr/>
                      </a:pPr>
                      <a:r>
                        <a:rPr lang="en-US" b="true" sz="3000" strike="noStrike" u="none">
                          <a:solidFill>
                            <a:srgbClr val="000000"/>
                          </a:solidFill>
                          <a:latin typeface="Cabin Bold"/>
                          <a:ea typeface="Cabin Bold"/>
                          <a:cs typeface="Cabin Bold"/>
                          <a:sym typeface="Cabin Bold"/>
                        </a:rPr>
                        <a:t>231165</a:t>
                      </a:r>
                      <a:r>
                        <a:rPr lang="en-US" b="true" sz="3000" strike="noStrike" u="none">
                          <a:solidFill>
                            <a:srgbClr val="000000"/>
                          </a:solidFill>
                          <a:latin typeface="Cabin Bold"/>
                          <a:ea typeface="Cabin Bold"/>
                          <a:cs typeface="Cabin Bold"/>
                          <a:sym typeface="Cabin Bold"/>
                        </a:rPr>
                        <a:t>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7" id="7"/>
          <p:cNvGrpSpPr/>
          <p:nvPr/>
        </p:nvGrpSpPr>
        <p:grpSpPr>
          <a:xfrm rot="0">
            <a:off x="1219294" y="657204"/>
            <a:ext cx="15795020" cy="1907038"/>
            <a:chOff x="0" y="0"/>
            <a:chExt cx="5762066" cy="695693"/>
          </a:xfrm>
        </p:grpSpPr>
        <p:sp>
          <p:nvSpPr>
            <p:cNvPr name="Freeform 8" id="8"/>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sp>
        <p:nvSpPr>
          <p:cNvPr name="TextBox 9" id="9"/>
          <p:cNvSpPr txBox="true"/>
          <p:nvPr/>
        </p:nvSpPr>
        <p:spPr>
          <a:xfrm rot="0">
            <a:off x="1488339" y="924923"/>
            <a:ext cx="15311323" cy="1371600"/>
          </a:xfrm>
          <a:prstGeom prst="rect">
            <a:avLst/>
          </a:prstGeom>
        </p:spPr>
        <p:txBody>
          <a:bodyPr anchor="t" rtlCol="false" tIns="0" lIns="0" bIns="0" rIns="0">
            <a:spAutoFit/>
          </a:bodyPr>
          <a:lstStyle/>
          <a:p>
            <a:pPr algn="ctr">
              <a:lnSpc>
                <a:spcPts val="10800"/>
              </a:lnSpc>
            </a:pPr>
            <a:r>
              <a:rPr lang="en-US" b="true" sz="9000" spc="-135">
                <a:solidFill>
                  <a:srgbClr val="003EA8"/>
                </a:solidFill>
                <a:latin typeface="Muli Bold"/>
                <a:ea typeface="Muli Bold"/>
                <a:cs typeface="Muli Bold"/>
                <a:sym typeface="Muli Bold"/>
              </a:rPr>
              <a:t>Danh sách thành viên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2910273"/>
            <a:ext cx="15795020" cy="6745738"/>
            <a:chOff x="0" y="0"/>
            <a:chExt cx="5762066" cy="2460863"/>
          </a:xfrm>
        </p:grpSpPr>
        <p:sp>
          <p:nvSpPr>
            <p:cNvPr name="Freeform 4" id="4"/>
            <p:cNvSpPr/>
            <p:nvPr/>
          </p:nvSpPr>
          <p:spPr>
            <a:xfrm flipH="false" flipV="false" rot="0">
              <a:off x="0" y="0"/>
              <a:ext cx="5762066" cy="2460863"/>
            </a:xfrm>
            <a:custGeom>
              <a:avLst/>
              <a:gdLst/>
              <a:ahLst/>
              <a:cxnLst/>
              <a:rect r="r" b="b" t="t" l="l"/>
              <a:pathLst>
                <a:path h="2460863" w="5762066">
                  <a:moveTo>
                    <a:pt x="0" y="0"/>
                  </a:moveTo>
                  <a:lnTo>
                    <a:pt x="5762066" y="0"/>
                  </a:lnTo>
                  <a:lnTo>
                    <a:pt x="5762066" y="2460863"/>
                  </a:lnTo>
                  <a:lnTo>
                    <a:pt x="0" y="2460863"/>
                  </a:lnTo>
                  <a:close/>
                </a:path>
              </a:pathLst>
            </a:custGeom>
            <a:solidFill>
              <a:srgbClr val="FFFFFF"/>
            </a:solidFill>
          </p:spPr>
        </p:sp>
      </p:grpSp>
      <p:grpSp>
        <p:nvGrpSpPr>
          <p:cNvPr name="Group 5" id="5"/>
          <p:cNvGrpSpPr/>
          <p:nvPr/>
        </p:nvGrpSpPr>
        <p:grpSpPr>
          <a:xfrm rot="0">
            <a:off x="1219294" y="657204"/>
            <a:ext cx="15795020" cy="1907038"/>
            <a:chOff x="0" y="0"/>
            <a:chExt cx="5762066" cy="695693"/>
          </a:xfrm>
        </p:grpSpPr>
        <p:sp>
          <p:nvSpPr>
            <p:cNvPr name="Freeform 6" id="6"/>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sp>
        <p:nvSpPr>
          <p:cNvPr name="Freeform 7" id="7"/>
          <p:cNvSpPr/>
          <p:nvPr/>
        </p:nvSpPr>
        <p:spPr>
          <a:xfrm flipH="false" flipV="false" rot="-278358">
            <a:off x="-1432939" y="-269558"/>
            <a:ext cx="5304464" cy="1668495"/>
          </a:xfrm>
          <a:custGeom>
            <a:avLst/>
            <a:gdLst/>
            <a:ahLst/>
            <a:cxnLst/>
            <a:rect r="r" b="b" t="t" l="l"/>
            <a:pathLst>
              <a:path h="1668495" w="5304464">
                <a:moveTo>
                  <a:pt x="0" y="0"/>
                </a:moveTo>
                <a:lnTo>
                  <a:pt x="5304465" y="0"/>
                </a:lnTo>
                <a:lnTo>
                  <a:pt x="5304465" y="1668495"/>
                </a:lnTo>
                <a:lnTo>
                  <a:pt x="0" y="16684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flipV="true">
            <a:off x="2831416" y="2910273"/>
            <a:ext cx="0" cy="6745738"/>
          </a:xfrm>
          <a:prstGeom prst="line">
            <a:avLst/>
          </a:prstGeom>
          <a:ln cap="flat" w="19050">
            <a:solidFill>
              <a:srgbClr val="CCCCCC"/>
            </a:solidFill>
            <a:prstDash val="solid"/>
            <a:headEnd type="none" len="sm" w="sm"/>
            <a:tailEnd type="none" len="sm" w="sm"/>
          </a:ln>
        </p:spPr>
      </p:sp>
      <p:sp>
        <p:nvSpPr>
          <p:cNvPr name="AutoShape 9" id="9"/>
          <p:cNvSpPr/>
          <p:nvPr/>
        </p:nvSpPr>
        <p:spPr>
          <a:xfrm rot="-5400000">
            <a:off x="6878694" y="6273617"/>
            <a:ext cx="6745738" cy="0"/>
          </a:xfrm>
          <a:prstGeom prst="line">
            <a:avLst/>
          </a:prstGeom>
          <a:ln cap="flat" w="19050">
            <a:solidFill>
              <a:srgbClr val="CCCCCC"/>
            </a:solidFill>
            <a:prstDash val="solid"/>
            <a:headEnd type="none" len="sm" w="sm"/>
            <a:tailEnd type="none" len="sm" w="sm"/>
          </a:ln>
        </p:spPr>
      </p:sp>
      <p:sp>
        <p:nvSpPr>
          <p:cNvPr name="AutoShape 10" id="10"/>
          <p:cNvSpPr/>
          <p:nvPr/>
        </p:nvSpPr>
        <p:spPr>
          <a:xfrm rot="-5400000">
            <a:off x="5264035" y="6273617"/>
            <a:ext cx="6745738" cy="0"/>
          </a:xfrm>
          <a:prstGeom prst="line">
            <a:avLst/>
          </a:prstGeom>
          <a:ln cap="flat" w="19050">
            <a:solidFill>
              <a:srgbClr val="CCCCCC"/>
            </a:solidFill>
            <a:prstDash val="solid"/>
            <a:headEnd type="none" len="sm" w="sm"/>
            <a:tailEnd type="none" len="sm" w="sm"/>
          </a:ln>
        </p:spPr>
      </p:sp>
      <p:grpSp>
        <p:nvGrpSpPr>
          <p:cNvPr name="Group 11" id="11"/>
          <p:cNvGrpSpPr/>
          <p:nvPr/>
        </p:nvGrpSpPr>
        <p:grpSpPr>
          <a:xfrm rot="0">
            <a:off x="13821430" y="6055702"/>
            <a:ext cx="4791997" cy="4775719"/>
            <a:chOff x="0" y="0"/>
            <a:chExt cx="6389330" cy="6367625"/>
          </a:xfrm>
        </p:grpSpPr>
        <p:sp>
          <p:nvSpPr>
            <p:cNvPr name="Freeform 12" id="12"/>
            <p:cNvSpPr/>
            <p:nvPr/>
          </p:nvSpPr>
          <p:spPr>
            <a:xfrm flipH="false" flipV="false" rot="0">
              <a:off x="0" y="338421"/>
              <a:ext cx="6389330" cy="6029204"/>
            </a:xfrm>
            <a:custGeom>
              <a:avLst/>
              <a:gdLst/>
              <a:ahLst/>
              <a:cxnLst/>
              <a:rect r="r" b="b" t="t" l="l"/>
              <a:pathLst>
                <a:path h="6029204" w="6389330">
                  <a:moveTo>
                    <a:pt x="0" y="0"/>
                  </a:moveTo>
                  <a:lnTo>
                    <a:pt x="6389330" y="0"/>
                  </a:lnTo>
                  <a:lnTo>
                    <a:pt x="6389330" y="6029204"/>
                  </a:lnTo>
                  <a:lnTo>
                    <a:pt x="0" y="60292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203414">
              <a:off x="1228888" y="24588"/>
              <a:ext cx="868401" cy="1245020"/>
            </a:xfrm>
            <a:custGeom>
              <a:avLst/>
              <a:gdLst/>
              <a:ahLst/>
              <a:cxnLst/>
              <a:rect r="r" b="b" t="t" l="l"/>
              <a:pathLst>
                <a:path h="1245020" w="868401">
                  <a:moveTo>
                    <a:pt x="0" y="0"/>
                  </a:moveTo>
                  <a:lnTo>
                    <a:pt x="868401" y="0"/>
                  </a:lnTo>
                  <a:lnTo>
                    <a:pt x="868401" y="1245019"/>
                  </a:lnTo>
                  <a:lnTo>
                    <a:pt x="0" y="12450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4" id="14"/>
          <p:cNvGrpSpPr/>
          <p:nvPr/>
        </p:nvGrpSpPr>
        <p:grpSpPr>
          <a:xfrm rot="0">
            <a:off x="10989170" y="3090122"/>
            <a:ext cx="3642641" cy="4106755"/>
            <a:chOff x="0" y="0"/>
            <a:chExt cx="4856855" cy="5475674"/>
          </a:xfrm>
        </p:grpSpPr>
        <p:sp>
          <p:nvSpPr>
            <p:cNvPr name="TextBox 15" id="15"/>
            <p:cNvSpPr txBox="true"/>
            <p:nvPr/>
          </p:nvSpPr>
          <p:spPr>
            <a:xfrm rot="0">
              <a:off x="0" y="-57150"/>
              <a:ext cx="4856855" cy="654051"/>
            </a:xfrm>
            <a:prstGeom prst="rect">
              <a:avLst/>
            </a:prstGeom>
          </p:spPr>
          <p:txBody>
            <a:bodyPr anchor="t" rtlCol="false" tIns="0" lIns="0" bIns="0" rIns="0">
              <a:spAutoFit/>
            </a:bodyPr>
            <a:lstStyle/>
            <a:p>
              <a:pPr algn="l">
                <a:lnSpc>
                  <a:spcPts val="4199"/>
                </a:lnSpc>
              </a:pPr>
              <a:r>
                <a:rPr lang="en-US" b="true" sz="2999">
                  <a:solidFill>
                    <a:srgbClr val="000000"/>
                  </a:solidFill>
                  <a:latin typeface="Cabin Bold"/>
                  <a:ea typeface="Cabin Bold"/>
                  <a:cs typeface="Cabin Bold"/>
                  <a:sym typeface="Cabin Bold"/>
                </a:rPr>
                <a:t>Trò chơi Killer Sudoku</a:t>
              </a:r>
            </a:p>
          </p:txBody>
        </p:sp>
        <p:sp>
          <p:nvSpPr>
            <p:cNvPr name="TextBox 16" id="16"/>
            <p:cNvSpPr txBox="true"/>
            <p:nvPr/>
          </p:nvSpPr>
          <p:spPr>
            <a:xfrm rot="0">
              <a:off x="0" y="1568729"/>
              <a:ext cx="4856855" cy="1352551"/>
            </a:xfrm>
            <a:prstGeom prst="rect">
              <a:avLst/>
            </a:prstGeom>
          </p:spPr>
          <p:txBody>
            <a:bodyPr anchor="t" rtlCol="false" tIns="0" lIns="0" bIns="0" rIns="0">
              <a:spAutoFit/>
            </a:bodyPr>
            <a:lstStyle/>
            <a:p>
              <a:pPr algn="l">
                <a:lnSpc>
                  <a:spcPts val="4199"/>
                </a:lnSpc>
              </a:pPr>
              <a:r>
                <a:rPr lang="en-US" b="true" sz="2999">
                  <a:solidFill>
                    <a:srgbClr val="000000"/>
                  </a:solidFill>
                  <a:latin typeface="Cabin Bold"/>
                  <a:ea typeface="Cabin Bold"/>
                  <a:cs typeface="Cabin Bold"/>
                  <a:sym typeface="Cabin Bold"/>
                </a:rPr>
                <a:t>Bli</a:t>
              </a:r>
              <a:r>
                <a:rPr lang="en-US" b="true" sz="2999">
                  <a:solidFill>
                    <a:srgbClr val="000000"/>
                  </a:solidFill>
                  <a:latin typeface="Cabin Bold"/>
                  <a:ea typeface="Cabin Bold"/>
                  <a:cs typeface="Cabin Bold"/>
                  <a:sym typeface="Cabin Bold"/>
                </a:rPr>
                <a:t>nd search (Depth-First Search)</a:t>
              </a:r>
            </a:p>
          </p:txBody>
        </p:sp>
        <p:sp>
          <p:nvSpPr>
            <p:cNvPr name="TextBox 17" id="17"/>
            <p:cNvSpPr txBox="true"/>
            <p:nvPr/>
          </p:nvSpPr>
          <p:spPr>
            <a:xfrm rot="0">
              <a:off x="0" y="3619779"/>
              <a:ext cx="4856855" cy="654051"/>
            </a:xfrm>
            <a:prstGeom prst="rect">
              <a:avLst/>
            </a:prstGeom>
          </p:spPr>
          <p:txBody>
            <a:bodyPr anchor="t" rtlCol="false" tIns="0" lIns="0" bIns="0" rIns="0">
              <a:spAutoFit/>
            </a:bodyPr>
            <a:lstStyle/>
            <a:p>
              <a:pPr algn="l">
                <a:lnSpc>
                  <a:spcPts val="4199"/>
                </a:lnSpc>
              </a:pPr>
              <a:r>
                <a:rPr lang="en-US" b="true" sz="2999">
                  <a:solidFill>
                    <a:srgbClr val="000000"/>
                  </a:solidFill>
                  <a:latin typeface="Cabin Bold"/>
                  <a:ea typeface="Cabin Bold"/>
                  <a:cs typeface="Cabin Bold"/>
                  <a:sym typeface="Cabin Bold"/>
                </a:rPr>
                <a:t>Heuristic search </a:t>
              </a:r>
            </a:p>
          </p:txBody>
        </p:sp>
        <p:sp>
          <p:nvSpPr>
            <p:cNvPr name="TextBox 18" id="18"/>
            <p:cNvSpPr txBox="true"/>
            <p:nvPr/>
          </p:nvSpPr>
          <p:spPr>
            <a:xfrm rot="0">
              <a:off x="0" y="4991380"/>
              <a:ext cx="4856855" cy="484293"/>
            </a:xfrm>
            <a:prstGeom prst="rect">
              <a:avLst/>
            </a:prstGeom>
          </p:spPr>
          <p:txBody>
            <a:bodyPr anchor="t" rtlCol="false" tIns="0" lIns="0" bIns="0" rIns="0">
              <a:spAutoFit/>
            </a:bodyPr>
            <a:lstStyle/>
            <a:p>
              <a:pPr algn="l">
                <a:lnSpc>
                  <a:spcPts val="3079"/>
                </a:lnSpc>
              </a:pPr>
            </a:p>
          </p:txBody>
        </p:sp>
      </p:grpSp>
      <p:sp>
        <p:nvSpPr>
          <p:cNvPr name="TextBox 19" id="19"/>
          <p:cNvSpPr txBox="true"/>
          <p:nvPr/>
        </p:nvSpPr>
        <p:spPr>
          <a:xfrm rot="0">
            <a:off x="3683996" y="924916"/>
            <a:ext cx="10839717"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Nội dung</a:t>
            </a:r>
          </a:p>
        </p:txBody>
      </p:sp>
      <p:grpSp>
        <p:nvGrpSpPr>
          <p:cNvPr name="Group 20" id="20"/>
          <p:cNvGrpSpPr/>
          <p:nvPr/>
        </p:nvGrpSpPr>
        <p:grpSpPr>
          <a:xfrm rot="0">
            <a:off x="3422638" y="3086550"/>
            <a:ext cx="4108866" cy="6495308"/>
            <a:chOff x="0" y="0"/>
            <a:chExt cx="5478488" cy="8660410"/>
          </a:xfrm>
        </p:grpSpPr>
        <p:sp>
          <p:nvSpPr>
            <p:cNvPr name="TextBox 21" id="21"/>
            <p:cNvSpPr txBox="true"/>
            <p:nvPr/>
          </p:nvSpPr>
          <p:spPr>
            <a:xfrm rot="0">
              <a:off x="0" y="1308379"/>
              <a:ext cx="5441055" cy="1352551"/>
            </a:xfrm>
            <a:prstGeom prst="rect">
              <a:avLst/>
            </a:prstGeom>
          </p:spPr>
          <p:txBody>
            <a:bodyPr anchor="t" rtlCol="false" tIns="0" lIns="0" bIns="0" rIns="0">
              <a:spAutoFit/>
            </a:bodyPr>
            <a:lstStyle/>
            <a:p>
              <a:pPr algn="l">
                <a:lnSpc>
                  <a:spcPts val="4199"/>
                </a:lnSpc>
              </a:pPr>
              <a:r>
                <a:rPr lang="en-US" b="true" sz="2999">
                  <a:solidFill>
                    <a:srgbClr val="000000"/>
                  </a:solidFill>
                  <a:latin typeface="Cabin Bold"/>
                  <a:ea typeface="Cabin Bold"/>
                  <a:cs typeface="Cabin Bold"/>
                  <a:sym typeface="Cabin Bold"/>
                </a:rPr>
                <a:t>Blind search (Depth-First Search)</a:t>
              </a:r>
            </a:p>
          </p:txBody>
        </p:sp>
        <p:sp>
          <p:nvSpPr>
            <p:cNvPr name="TextBox 22" id="22"/>
            <p:cNvSpPr txBox="true"/>
            <p:nvPr/>
          </p:nvSpPr>
          <p:spPr>
            <a:xfrm rot="0">
              <a:off x="0" y="3619779"/>
              <a:ext cx="5441055" cy="654051"/>
            </a:xfrm>
            <a:prstGeom prst="rect">
              <a:avLst/>
            </a:prstGeom>
          </p:spPr>
          <p:txBody>
            <a:bodyPr anchor="t" rtlCol="false" tIns="0" lIns="0" bIns="0" rIns="0">
              <a:spAutoFit/>
            </a:bodyPr>
            <a:lstStyle/>
            <a:p>
              <a:pPr algn="l">
                <a:lnSpc>
                  <a:spcPts val="4199"/>
                </a:lnSpc>
              </a:pPr>
              <a:r>
                <a:rPr lang="en-US" b="true" sz="2999">
                  <a:solidFill>
                    <a:srgbClr val="000000"/>
                  </a:solidFill>
                  <a:latin typeface="Cabin Bold"/>
                  <a:ea typeface="Cabin Bold"/>
                  <a:cs typeface="Cabin Bold"/>
                  <a:sym typeface="Cabin Bold"/>
                </a:rPr>
                <a:t>Heuristic search </a:t>
              </a:r>
            </a:p>
          </p:txBody>
        </p:sp>
        <p:sp>
          <p:nvSpPr>
            <p:cNvPr name="TextBox 23" id="23"/>
            <p:cNvSpPr txBox="true"/>
            <p:nvPr/>
          </p:nvSpPr>
          <p:spPr>
            <a:xfrm rot="0">
              <a:off x="37434" y="6713924"/>
              <a:ext cx="5441055" cy="484293"/>
            </a:xfrm>
            <a:prstGeom prst="rect">
              <a:avLst/>
            </a:prstGeom>
          </p:spPr>
          <p:txBody>
            <a:bodyPr anchor="t" rtlCol="false" tIns="0" lIns="0" bIns="0" rIns="0">
              <a:spAutoFit/>
            </a:bodyPr>
            <a:lstStyle/>
            <a:p>
              <a:pPr algn="l">
                <a:lnSpc>
                  <a:spcPts val="3079"/>
                </a:lnSpc>
              </a:pPr>
            </a:p>
          </p:txBody>
        </p:sp>
        <p:sp>
          <p:nvSpPr>
            <p:cNvPr name="TextBox 24" id="24"/>
            <p:cNvSpPr txBox="true"/>
            <p:nvPr/>
          </p:nvSpPr>
          <p:spPr>
            <a:xfrm rot="0">
              <a:off x="0" y="8176117"/>
              <a:ext cx="5441055" cy="484293"/>
            </a:xfrm>
            <a:prstGeom prst="rect">
              <a:avLst/>
            </a:prstGeom>
          </p:spPr>
          <p:txBody>
            <a:bodyPr anchor="t" rtlCol="false" tIns="0" lIns="0" bIns="0" rIns="0">
              <a:spAutoFit/>
            </a:bodyPr>
            <a:lstStyle/>
            <a:p>
              <a:pPr algn="l">
                <a:lnSpc>
                  <a:spcPts val="3079"/>
                </a:lnSpc>
              </a:pPr>
            </a:p>
          </p:txBody>
        </p:sp>
        <p:sp>
          <p:nvSpPr>
            <p:cNvPr name="TextBox 25" id="25"/>
            <p:cNvSpPr txBox="true"/>
            <p:nvPr/>
          </p:nvSpPr>
          <p:spPr>
            <a:xfrm rot="0">
              <a:off x="0" y="-57150"/>
              <a:ext cx="5441055" cy="654051"/>
            </a:xfrm>
            <a:prstGeom prst="rect">
              <a:avLst/>
            </a:prstGeom>
          </p:spPr>
          <p:txBody>
            <a:bodyPr anchor="t" rtlCol="false" tIns="0" lIns="0" bIns="0" rIns="0">
              <a:spAutoFit/>
            </a:bodyPr>
            <a:lstStyle/>
            <a:p>
              <a:pPr algn="l">
                <a:lnSpc>
                  <a:spcPts val="4199"/>
                </a:lnSpc>
              </a:pPr>
              <a:r>
                <a:rPr lang="en-US" sz="2999" b="true">
                  <a:solidFill>
                    <a:srgbClr val="000000"/>
                  </a:solidFill>
                  <a:latin typeface="Cabin Bold"/>
                  <a:ea typeface="Cabin Bold"/>
                  <a:cs typeface="Cabin Bold"/>
                  <a:sym typeface="Cabin Bold"/>
                </a:rPr>
                <a:t>Trò chơi Tents</a:t>
              </a:r>
            </a:p>
          </p:txBody>
        </p:sp>
      </p:grpSp>
      <p:sp>
        <p:nvSpPr>
          <p:cNvPr name="TextBox 26" id="26"/>
          <p:cNvSpPr txBox="true"/>
          <p:nvPr/>
        </p:nvSpPr>
        <p:spPr>
          <a:xfrm rot="0">
            <a:off x="1783156" y="2994196"/>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1</a:t>
            </a:r>
          </a:p>
        </p:txBody>
      </p:sp>
      <p:sp>
        <p:nvSpPr>
          <p:cNvPr name="TextBox 27" id="27"/>
          <p:cNvSpPr txBox="true"/>
          <p:nvPr/>
        </p:nvSpPr>
        <p:spPr>
          <a:xfrm rot="0">
            <a:off x="9294663" y="2994196"/>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2</a:t>
            </a:r>
          </a:p>
        </p:txBody>
      </p:sp>
      <p:sp>
        <p:nvSpPr>
          <p:cNvPr name="TextBox 28" id="28"/>
          <p:cNvSpPr txBox="true"/>
          <p:nvPr/>
        </p:nvSpPr>
        <p:spPr>
          <a:xfrm rot="0">
            <a:off x="1650988" y="4318171"/>
            <a:ext cx="1180428"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1.1</a:t>
            </a:r>
          </a:p>
        </p:txBody>
      </p:sp>
      <p:sp>
        <p:nvSpPr>
          <p:cNvPr name="TextBox 29" id="29"/>
          <p:cNvSpPr txBox="true"/>
          <p:nvPr/>
        </p:nvSpPr>
        <p:spPr>
          <a:xfrm rot="0">
            <a:off x="9103855" y="4318171"/>
            <a:ext cx="1147709"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2.1</a:t>
            </a:r>
          </a:p>
        </p:txBody>
      </p:sp>
      <p:sp>
        <p:nvSpPr>
          <p:cNvPr name="TextBox 30" id="30"/>
          <p:cNvSpPr txBox="true"/>
          <p:nvPr/>
        </p:nvSpPr>
        <p:spPr>
          <a:xfrm rot="0">
            <a:off x="1650988" y="5641364"/>
            <a:ext cx="1030428"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1.2</a:t>
            </a:r>
          </a:p>
        </p:txBody>
      </p:sp>
      <p:sp>
        <p:nvSpPr>
          <p:cNvPr name="TextBox 31" id="31"/>
          <p:cNvSpPr txBox="true"/>
          <p:nvPr/>
        </p:nvSpPr>
        <p:spPr>
          <a:xfrm rot="0">
            <a:off x="9030326" y="5641364"/>
            <a:ext cx="1294765"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2.2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3143906"/>
            <a:ext cx="16445245" cy="3999188"/>
            <a:chOff x="0" y="0"/>
            <a:chExt cx="5999270" cy="1458915"/>
          </a:xfrm>
        </p:grpSpPr>
        <p:sp>
          <p:nvSpPr>
            <p:cNvPr name="Freeform 4" id="4"/>
            <p:cNvSpPr/>
            <p:nvPr/>
          </p:nvSpPr>
          <p:spPr>
            <a:xfrm flipH="false" flipV="false" rot="0">
              <a:off x="0" y="0"/>
              <a:ext cx="5999270" cy="1458915"/>
            </a:xfrm>
            <a:custGeom>
              <a:avLst/>
              <a:gdLst/>
              <a:ahLst/>
              <a:cxnLst/>
              <a:rect r="r" b="b" t="t" l="l"/>
              <a:pathLst>
                <a:path h="1458915" w="5999270">
                  <a:moveTo>
                    <a:pt x="0" y="0"/>
                  </a:moveTo>
                  <a:lnTo>
                    <a:pt x="5999270" y="0"/>
                  </a:lnTo>
                  <a:lnTo>
                    <a:pt x="5999270" y="1458915"/>
                  </a:lnTo>
                  <a:lnTo>
                    <a:pt x="0" y="1458915"/>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9" id="9"/>
          <p:cNvSpPr txBox="true"/>
          <p:nvPr/>
        </p:nvSpPr>
        <p:spPr>
          <a:xfrm rot="0">
            <a:off x="3343782" y="4457700"/>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Tents</a:t>
            </a:r>
          </a:p>
        </p:txBody>
      </p:sp>
      <p:sp>
        <p:nvSpPr>
          <p:cNvPr name="Freeform 10" id="10"/>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grpSp>
        <p:nvGrpSpPr>
          <p:cNvPr name="Group 7" id="7"/>
          <p:cNvGrpSpPr/>
          <p:nvPr/>
        </p:nvGrpSpPr>
        <p:grpSpPr>
          <a:xfrm rot="0">
            <a:off x="926069" y="2915205"/>
            <a:ext cx="8358265" cy="5768744"/>
            <a:chOff x="0" y="0"/>
            <a:chExt cx="3049118" cy="2104453"/>
          </a:xfrm>
        </p:grpSpPr>
        <p:sp>
          <p:nvSpPr>
            <p:cNvPr name="Freeform 8" id="8"/>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9" id="9"/>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9908900" y="3235000"/>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2" id="12"/>
          <p:cNvGrpSpPr/>
          <p:nvPr/>
        </p:nvGrpSpPr>
        <p:grpSpPr>
          <a:xfrm rot="0">
            <a:off x="10055579" y="7995212"/>
            <a:ext cx="121908" cy="121908"/>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4" id="14"/>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Tents</a:t>
            </a:r>
          </a:p>
        </p:txBody>
      </p:sp>
      <p:sp>
        <p:nvSpPr>
          <p:cNvPr name="Freeform 15" id="15"/>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1293109" y="3519256"/>
            <a:ext cx="4390479" cy="4402675"/>
          </a:xfrm>
          <a:custGeom>
            <a:avLst/>
            <a:gdLst/>
            <a:ahLst/>
            <a:cxnLst/>
            <a:rect r="r" b="b" t="t" l="l"/>
            <a:pathLst>
              <a:path h="4402675" w="4390479">
                <a:moveTo>
                  <a:pt x="0" y="0"/>
                </a:moveTo>
                <a:lnTo>
                  <a:pt x="4390479" y="0"/>
                </a:lnTo>
                <a:lnTo>
                  <a:pt x="4390479" y="4402675"/>
                </a:lnTo>
                <a:lnTo>
                  <a:pt x="0" y="4402675"/>
                </a:lnTo>
                <a:lnTo>
                  <a:pt x="0" y="0"/>
                </a:lnTo>
                <a:close/>
              </a:path>
            </a:pathLst>
          </a:custGeom>
          <a:blipFill>
            <a:blip r:embed="rId9"/>
            <a:stretch>
              <a:fillRect l="0" t="0" r="0" b="0"/>
            </a:stretch>
          </a:blipFill>
        </p:spPr>
      </p:sp>
      <p:grpSp>
        <p:nvGrpSpPr>
          <p:cNvPr name="Group 19" id="19"/>
          <p:cNvGrpSpPr/>
          <p:nvPr/>
        </p:nvGrpSpPr>
        <p:grpSpPr>
          <a:xfrm rot="0">
            <a:off x="1671144" y="4547408"/>
            <a:ext cx="6868115" cy="3227603"/>
            <a:chOff x="0" y="0"/>
            <a:chExt cx="9157487" cy="4303471"/>
          </a:xfrm>
        </p:grpSpPr>
        <p:sp>
          <p:nvSpPr>
            <p:cNvPr name="TextBox 20" id="20"/>
            <p:cNvSpPr txBox="true"/>
            <p:nvPr/>
          </p:nvSpPr>
          <p:spPr>
            <a:xfrm rot="0">
              <a:off x="0" y="1050154"/>
              <a:ext cx="9157487" cy="3253317"/>
            </a:xfrm>
            <a:prstGeom prst="rect">
              <a:avLst/>
            </a:prstGeom>
          </p:spPr>
          <p:txBody>
            <a:bodyPr anchor="t" rtlCol="false" tIns="0" lIns="0" bIns="0" rIns="0">
              <a:spAutoFit/>
            </a:bodyPr>
            <a:lstStyle/>
            <a:p>
              <a:pPr algn="just" marL="539748" indent="-269874" lvl="1">
                <a:lnSpc>
                  <a:spcPts val="3249"/>
                </a:lnSpc>
                <a:buFont typeface="Arial"/>
                <a:buChar char="•"/>
              </a:pPr>
              <a:r>
                <a:rPr lang="en-US" sz="2499">
                  <a:solidFill>
                    <a:srgbClr val="000000"/>
                  </a:solidFill>
                  <a:latin typeface="Cabin"/>
                  <a:ea typeface="Cabin"/>
                  <a:cs typeface="Cabin"/>
                  <a:sym typeface="Cabin"/>
                </a:rPr>
                <a:t>Trò chơ</a:t>
              </a:r>
              <a:r>
                <a:rPr lang="en-US" sz="2499">
                  <a:solidFill>
                    <a:srgbClr val="000000"/>
                  </a:solidFill>
                  <a:latin typeface="Cabin"/>
                  <a:ea typeface="Cabin"/>
                  <a:cs typeface="Cabin"/>
                  <a:sym typeface="Cabin"/>
                </a:rPr>
                <a:t>i Lều (Tents) là một trò chơi giải đố được cung cấp ở trang </a:t>
              </a:r>
              <a:r>
                <a:rPr lang="en-US" sz="2499">
                  <a:solidFill>
                    <a:srgbClr val="003EA8"/>
                  </a:solidFill>
                  <a:latin typeface="Cabin"/>
                  <a:ea typeface="Cabin"/>
                  <a:cs typeface="Cabin"/>
                  <a:sym typeface="Cabin"/>
                </a:rPr>
                <a:t>https://www.puzzle-tents.com/</a:t>
              </a:r>
              <a:r>
                <a:rPr lang="en-US" sz="2499">
                  <a:solidFill>
                    <a:srgbClr val="000000"/>
                  </a:solidFill>
                  <a:latin typeface="Cabin"/>
                  <a:ea typeface="Cabin"/>
                  <a:cs typeface="Cabin"/>
                  <a:sym typeface="Cabin"/>
                </a:rPr>
                <a:t>. Trò chơi không đòi hỏi kiến thức toán học phức tạp mà tập trung vào khả năng suy luận và thực thi các ràng buộc chặt chẽ để tìm ra lời giải duy nhất.</a:t>
              </a:r>
            </a:p>
          </p:txBody>
        </p:sp>
        <p:sp>
          <p:nvSpPr>
            <p:cNvPr name="TextBox 21" id="21"/>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Giới thiệu</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grpSp>
        <p:nvGrpSpPr>
          <p:cNvPr name="Group 7" id="7"/>
          <p:cNvGrpSpPr/>
          <p:nvPr/>
        </p:nvGrpSpPr>
        <p:grpSpPr>
          <a:xfrm rot="0">
            <a:off x="926069" y="2915205"/>
            <a:ext cx="8358265" cy="5768744"/>
            <a:chOff x="0" y="0"/>
            <a:chExt cx="3049118" cy="2104453"/>
          </a:xfrm>
        </p:grpSpPr>
        <p:sp>
          <p:nvSpPr>
            <p:cNvPr name="Freeform 8" id="8"/>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9" id="9"/>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9908900" y="3235000"/>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2" id="12"/>
          <p:cNvGrpSpPr/>
          <p:nvPr/>
        </p:nvGrpSpPr>
        <p:grpSpPr>
          <a:xfrm rot="0">
            <a:off x="10055579" y="7995212"/>
            <a:ext cx="121908" cy="121908"/>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4" id="14"/>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Tents</a:t>
            </a:r>
          </a:p>
        </p:txBody>
      </p:sp>
      <p:sp>
        <p:nvSpPr>
          <p:cNvPr name="Freeform 15" id="15"/>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1293109" y="3519256"/>
            <a:ext cx="4390479" cy="4402675"/>
          </a:xfrm>
          <a:custGeom>
            <a:avLst/>
            <a:gdLst/>
            <a:ahLst/>
            <a:cxnLst/>
            <a:rect r="r" b="b" t="t" l="l"/>
            <a:pathLst>
              <a:path h="4402675" w="4390479">
                <a:moveTo>
                  <a:pt x="0" y="0"/>
                </a:moveTo>
                <a:lnTo>
                  <a:pt x="4390479" y="0"/>
                </a:lnTo>
                <a:lnTo>
                  <a:pt x="4390479" y="4402675"/>
                </a:lnTo>
                <a:lnTo>
                  <a:pt x="0" y="4402675"/>
                </a:lnTo>
                <a:lnTo>
                  <a:pt x="0" y="0"/>
                </a:lnTo>
                <a:close/>
              </a:path>
            </a:pathLst>
          </a:custGeom>
          <a:blipFill>
            <a:blip r:embed="rId9"/>
            <a:stretch>
              <a:fillRect l="0" t="0" r="0" b="0"/>
            </a:stretch>
          </a:blipFill>
        </p:spPr>
      </p:sp>
      <p:grpSp>
        <p:nvGrpSpPr>
          <p:cNvPr name="Group 19" id="19"/>
          <p:cNvGrpSpPr/>
          <p:nvPr/>
        </p:nvGrpSpPr>
        <p:grpSpPr>
          <a:xfrm rot="0">
            <a:off x="1671144" y="3298039"/>
            <a:ext cx="6868115" cy="4456328"/>
            <a:chOff x="0" y="0"/>
            <a:chExt cx="9157487" cy="5941771"/>
          </a:xfrm>
        </p:grpSpPr>
        <p:sp>
          <p:nvSpPr>
            <p:cNvPr name="TextBox 20" id="20"/>
            <p:cNvSpPr txBox="true"/>
            <p:nvPr/>
          </p:nvSpPr>
          <p:spPr>
            <a:xfrm rot="0">
              <a:off x="0" y="1050154"/>
              <a:ext cx="9157487" cy="4891617"/>
            </a:xfrm>
            <a:prstGeom prst="rect">
              <a:avLst/>
            </a:prstGeom>
          </p:spPr>
          <p:txBody>
            <a:bodyPr anchor="t" rtlCol="false" tIns="0" lIns="0" bIns="0" rIns="0">
              <a:spAutoFit/>
            </a:bodyPr>
            <a:lstStyle/>
            <a:p>
              <a:pPr algn="just">
                <a:lnSpc>
                  <a:spcPts val="3249"/>
                </a:lnSpc>
              </a:pPr>
              <a:r>
                <a:rPr lang="en-US" sz="2499">
                  <a:solidFill>
                    <a:srgbClr val="000000"/>
                  </a:solidFill>
                  <a:latin typeface="Cabin"/>
                  <a:ea typeface="Cabin"/>
                  <a:cs typeface="Cabin"/>
                  <a:sym typeface="Cabin"/>
                </a:rPr>
                <a:t>Trò chơ</a:t>
              </a:r>
              <a:r>
                <a:rPr lang="en-US" sz="2499">
                  <a:solidFill>
                    <a:srgbClr val="000000"/>
                  </a:solidFill>
                  <a:latin typeface="Cabin"/>
                  <a:ea typeface="Cabin"/>
                  <a:cs typeface="Cabin"/>
                  <a:sym typeface="Cabin"/>
                </a:rPr>
                <a:t>i là </a:t>
              </a:r>
              <a:r>
                <a:rPr lang="en-US" b="true" sz="2499">
                  <a:solidFill>
                    <a:srgbClr val="003EA8"/>
                  </a:solidFill>
                  <a:latin typeface="Cabin Bold"/>
                  <a:ea typeface="Cabin Bold"/>
                  <a:cs typeface="Cabin Bold"/>
                  <a:sym typeface="Cabin Bold"/>
                </a:rPr>
                <a:t>một ma trận vuông có lưới</a:t>
              </a:r>
              <a:r>
                <a:rPr lang="en-US" sz="2499">
                  <a:solidFill>
                    <a:srgbClr val="000000"/>
                  </a:solidFill>
                  <a:latin typeface="Cabin"/>
                  <a:ea typeface="Cabin"/>
                  <a:cs typeface="Cabin"/>
                  <a:sym typeface="Cabin"/>
                </a:rPr>
                <a:t>, gồm:</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Cây (Trees):</a:t>
              </a:r>
              <a:r>
                <a:rPr lang="en-US" sz="2499">
                  <a:solidFill>
                    <a:srgbClr val="000000"/>
                  </a:solidFill>
                  <a:latin typeface="Cabin"/>
                  <a:ea typeface="Cabin"/>
                  <a:cs typeface="Cabin"/>
                  <a:sym typeface="Cabin"/>
                </a:rPr>
                <a:t> Các cây được đặt cố định ở các ô của ma </a:t>
              </a:r>
              <a:r>
                <a:rPr lang="en-US" sz="2499">
                  <a:solidFill>
                    <a:srgbClr val="000000"/>
                  </a:solidFill>
                  <a:latin typeface="Cabin"/>
                  <a:ea typeface="Cabin"/>
                  <a:cs typeface="Cabin"/>
                  <a:sym typeface="Cabin"/>
                </a:rPr>
                <a:t>t</a:t>
              </a:r>
              <a:r>
                <a:rPr lang="en-US" sz="2499">
                  <a:solidFill>
                    <a:srgbClr val="000000"/>
                  </a:solidFill>
                  <a:latin typeface="Cabin"/>
                  <a:ea typeface="Cabin"/>
                  <a:cs typeface="Cabin"/>
                  <a:sym typeface="Cabin"/>
                </a:rPr>
                <a:t>rận</a:t>
              </a:r>
              <a:r>
                <a:rPr lang="en-US" sz="2499">
                  <a:solidFill>
                    <a:srgbClr val="000000"/>
                  </a:solidFill>
                  <a:latin typeface="Cabin"/>
                  <a:ea typeface="Cabin"/>
                  <a:cs typeface="Cabin"/>
                  <a:sym typeface="Cabin"/>
                </a:rPr>
                <a:t>.</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Lều (Tents):</a:t>
              </a:r>
              <a:r>
                <a:rPr lang="en-US" sz="2499">
                  <a:solidFill>
                    <a:srgbClr val="000000"/>
                  </a:solidFill>
                  <a:latin typeface="Cabin"/>
                  <a:ea typeface="Cabin"/>
                  <a:cs typeface="Cabin"/>
                  <a:sym typeface="Cabin"/>
                </a:rPr>
                <a:t> Cá</a:t>
              </a:r>
              <a:r>
                <a:rPr lang="en-US" sz="2499">
                  <a:solidFill>
                    <a:srgbClr val="000000"/>
                  </a:solidFill>
                  <a:latin typeface="Cabin"/>
                  <a:ea typeface="Cabin"/>
                  <a:cs typeface="Cabin"/>
                  <a:sym typeface="Cabin"/>
                </a:rPr>
                <a:t>c</a:t>
              </a:r>
              <a:r>
                <a:rPr lang="en-US" sz="2499">
                  <a:solidFill>
                    <a:srgbClr val="000000"/>
                  </a:solidFill>
                  <a:latin typeface="Cabin"/>
                  <a:ea typeface="Cabin"/>
                  <a:cs typeface="Cabin"/>
                  <a:sym typeface="Cabin"/>
                </a:rPr>
                <a:t> lều được người chơi đặt vào các ô trống của ma trận sao cho thỏa mãn luật chơi.</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Gợi ý số lượng (Clues):</a:t>
              </a:r>
              <a:r>
                <a:rPr lang="en-US" sz="2499">
                  <a:solidFill>
                    <a:srgbClr val="000000"/>
                  </a:solidFill>
                  <a:latin typeface="Cabin"/>
                  <a:ea typeface="Cabin"/>
                  <a:cs typeface="Cabin"/>
                  <a:sym typeface="Cabin"/>
                </a:rPr>
                <a:t> Các con số nằm ở đầu mỗi hàng và mỗi cột, cho biết tổng số lều chính xác phải có trong hàng hoặc cột đó.</a:t>
              </a:r>
            </a:p>
          </p:txBody>
        </p:sp>
        <p:sp>
          <p:nvSpPr>
            <p:cNvPr name="TextBox 21" id="21"/>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Thành phần trò chơi</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grpSp>
        <p:nvGrpSpPr>
          <p:cNvPr name="Group 7" id="7"/>
          <p:cNvGrpSpPr/>
          <p:nvPr/>
        </p:nvGrpSpPr>
        <p:grpSpPr>
          <a:xfrm rot="0">
            <a:off x="926069" y="2915205"/>
            <a:ext cx="8358265" cy="5768744"/>
            <a:chOff x="0" y="0"/>
            <a:chExt cx="3049118" cy="2104453"/>
          </a:xfrm>
        </p:grpSpPr>
        <p:sp>
          <p:nvSpPr>
            <p:cNvPr name="Freeform 8" id="8"/>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9" id="9"/>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9908900" y="3235000"/>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2" id="12"/>
          <p:cNvGrpSpPr/>
          <p:nvPr/>
        </p:nvGrpSpPr>
        <p:grpSpPr>
          <a:xfrm rot="0">
            <a:off x="10055579" y="7995212"/>
            <a:ext cx="121908" cy="121908"/>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4" id="14"/>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Tents</a:t>
            </a:r>
          </a:p>
        </p:txBody>
      </p:sp>
      <p:sp>
        <p:nvSpPr>
          <p:cNvPr name="Freeform 15" id="15"/>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1293109" y="3519256"/>
            <a:ext cx="4390479" cy="4402675"/>
          </a:xfrm>
          <a:custGeom>
            <a:avLst/>
            <a:gdLst/>
            <a:ahLst/>
            <a:cxnLst/>
            <a:rect r="r" b="b" t="t" l="l"/>
            <a:pathLst>
              <a:path h="4402675" w="4390479">
                <a:moveTo>
                  <a:pt x="0" y="0"/>
                </a:moveTo>
                <a:lnTo>
                  <a:pt x="4390479" y="0"/>
                </a:lnTo>
                <a:lnTo>
                  <a:pt x="4390479" y="4402675"/>
                </a:lnTo>
                <a:lnTo>
                  <a:pt x="0" y="4402675"/>
                </a:lnTo>
                <a:lnTo>
                  <a:pt x="0" y="0"/>
                </a:lnTo>
                <a:close/>
              </a:path>
            </a:pathLst>
          </a:custGeom>
          <a:blipFill>
            <a:blip r:embed="rId9"/>
            <a:stretch>
              <a:fillRect l="0" t="0" r="0" b="0"/>
            </a:stretch>
          </a:blipFill>
        </p:spPr>
      </p:sp>
      <p:grpSp>
        <p:nvGrpSpPr>
          <p:cNvPr name="Group 19" id="19"/>
          <p:cNvGrpSpPr/>
          <p:nvPr/>
        </p:nvGrpSpPr>
        <p:grpSpPr>
          <a:xfrm rot="0">
            <a:off x="1671144" y="3298039"/>
            <a:ext cx="6868115" cy="5275478"/>
            <a:chOff x="0" y="0"/>
            <a:chExt cx="9157487" cy="7033971"/>
          </a:xfrm>
        </p:grpSpPr>
        <p:sp>
          <p:nvSpPr>
            <p:cNvPr name="TextBox 20" id="20"/>
            <p:cNvSpPr txBox="true"/>
            <p:nvPr/>
          </p:nvSpPr>
          <p:spPr>
            <a:xfrm rot="0">
              <a:off x="0" y="1050154"/>
              <a:ext cx="9157487" cy="5983817"/>
            </a:xfrm>
            <a:prstGeom prst="rect">
              <a:avLst/>
            </a:prstGeom>
          </p:spPr>
          <p:txBody>
            <a:bodyPr anchor="t" rtlCol="false" tIns="0" lIns="0" bIns="0" rIns="0">
              <a:spAutoFit/>
            </a:bodyPr>
            <a:lstStyle/>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Qu</a:t>
              </a:r>
              <a:r>
                <a:rPr lang="en-US" b="true" sz="2499">
                  <a:solidFill>
                    <a:srgbClr val="003EA8"/>
                  </a:solidFill>
                  <a:latin typeface="Cabin Bold"/>
                  <a:ea typeface="Cabin Bold"/>
                  <a:cs typeface="Cabin Bold"/>
                  <a:sym typeface="Cabin Bold"/>
                </a:rPr>
                <a:t>an hệ 1-1:</a:t>
              </a:r>
              <a:r>
                <a:rPr lang="en-US" sz="2499">
                  <a:solidFill>
                    <a:srgbClr val="000000"/>
                  </a:solidFill>
                  <a:latin typeface="Cabin"/>
                  <a:ea typeface="Cabin"/>
                  <a:cs typeface="Cabin"/>
                  <a:sym typeface="Cabin"/>
                </a:rPr>
                <a:t> </a:t>
              </a:r>
              <a:r>
                <a:rPr lang="en-US" sz="2499">
                  <a:solidFill>
                    <a:srgbClr val="000000"/>
                  </a:solidFill>
                  <a:latin typeface="Cabin"/>
                  <a:ea typeface="Cabin"/>
                  <a:cs typeface="Cabin"/>
                  <a:sym typeface="Cabin"/>
                </a:rPr>
                <a:t>Mỗ</a:t>
              </a:r>
              <a:r>
                <a:rPr lang="en-US" sz="2499">
                  <a:solidFill>
                    <a:srgbClr val="000000"/>
                  </a:solidFill>
                  <a:latin typeface="Cabin"/>
                  <a:ea typeface="Cabin"/>
                  <a:cs typeface="Cabin"/>
                  <a:sym typeface="Cabin"/>
                </a:rPr>
                <a:t>i</a:t>
              </a:r>
              <a:r>
                <a:rPr lang="en-US" sz="2499">
                  <a:solidFill>
                    <a:srgbClr val="000000"/>
                  </a:solidFill>
                  <a:latin typeface="Cabin"/>
                  <a:ea typeface="Cabin"/>
                  <a:cs typeface="Cabin"/>
                  <a:sym typeface="Cabin"/>
                </a:rPr>
                <a:t> cái cây phải được ghép cặp với đúng một chiếc lều duy nhất.</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Vị trí của lều:</a:t>
              </a:r>
              <a:r>
                <a:rPr lang="en-US" sz="2499">
                  <a:solidFill>
                    <a:srgbClr val="000000"/>
                  </a:solidFill>
                  <a:latin typeface="Cabin"/>
                  <a:ea typeface="Cabin"/>
                  <a:cs typeface="Cabin"/>
                  <a:sym typeface="Cabin"/>
                </a:rPr>
                <a:t> </a:t>
              </a:r>
              <a:r>
                <a:rPr lang="en-US" sz="2499">
                  <a:solidFill>
                    <a:srgbClr val="000000"/>
                  </a:solidFill>
                  <a:latin typeface="Cabin"/>
                  <a:ea typeface="Cabin"/>
                  <a:cs typeface="Cabin"/>
                  <a:sym typeface="Cabin"/>
                </a:rPr>
                <a:t>Mộ</a:t>
              </a:r>
              <a:r>
                <a:rPr lang="en-US" sz="2499">
                  <a:solidFill>
                    <a:srgbClr val="000000"/>
                  </a:solidFill>
                  <a:latin typeface="Cabin"/>
                  <a:ea typeface="Cabin"/>
                  <a:cs typeface="Cabin"/>
                  <a:sym typeface="Cabin"/>
                </a:rPr>
                <a:t>t</a:t>
              </a:r>
              <a:r>
                <a:rPr lang="en-US" sz="2499">
                  <a:solidFill>
                    <a:srgbClr val="000000"/>
                  </a:solidFill>
                  <a:latin typeface="Cabin"/>
                  <a:ea typeface="Cabin"/>
                  <a:cs typeface="Cabin"/>
                  <a:sym typeface="Cabin"/>
                </a:rPr>
                <a:t> chiế</a:t>
              </a:r>
              <a:r>
                <a:rPr lang="en-US" sz="2499">
                  <a:solidFill>
                    <a:srgbClr val="000000"/>
                  </a:solidFill>
                  <a:latin typeface="Cabin"/>
                  <a:ea typeface="Cabin"/>
                  <a:cs typeface="Cabin"/>
                  <a:sym typeface="Cabin"/>
                </a:rPr>
                <a:t>c</a:t>
              </a:r>
              <a:r>
                <a:rPr lang="en-US" sz="2499">
                  <a:solidFill>
                    <a:srgbClr val="000000"/>
                  </a:solidFill>
                  <a:latin typeface="Cabin"/>
                  <a:ea typeface="Cabin"/>
                  <a:cs typeface="Cabin"/>
                  <a:sym typeface="Cabin"/>
                </a:rPr>
                <a:t> lều phải nằm ở ô kề cạnh </a:t>
              </a:r>
              <a:r>
                <a:rPr lang="en-US" sz="2499">
                  <a:solidFill>
                    <a:srgbClr val="003EA8"/>
                  </a:solidFill>
                  <a:latin typeface="Cabin"/>
                  <a:ea typeface="Cabin"/>
                  <a:cs typeface="Cabin"/>
                  <a:sym typeface="Cabin"/>
                </a:rPr>
                <a:t>(trên, dưới, trái, phải)</a:t>
              </a:r>
              <a:r>
                <a:rPr lang="en-US" sz="2499">
                  <a:solidFill>
                    <a:srgbClr val="000000"/>
                  </a:solidFill>
                  <a:latin typeface="Cabin"/>
                  <a:ea typeface="Cabin"/>
                  <a:cs typeface="Cabin"/>
                  <a:sym typeface="Cabin"/>
                </a:rPr>
                <a:t> của cái cây tương ứng với nó.</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Khoảng cách giữa các lều:</a:t>
              </a:r>
              <a:r>
                <a:rPr lang="en-US" sz="2499">
                  <a:solidFill>
                    <a:srgbClr val="000000"/>
                  </a:solidFill>
                  <a:latin typeface="Cabin"/>
                  <a:ea typeface="Cabin"/>
                  <a:cs typeface="Cabin"/>
                  <a:sym typeface="Cabin"/>
                </a:rPr>
                <a:t> Các chiếc lều không bao giờ được nằm cạnh nhau, kể cả theo đường chéo.</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Khớp với gợi ý:</a:t>
              </a:r>
              <a:r>
                <a:rPr lang="en-US" sz="2499">
                  <a:solidFill>
                    <a:srgbClr val="000000"/>
                  </a:solidFill>
                  <a:latin typeface="Cabin"/>
                  <a:ea typeface="Cabin"/>
                  <a:cs typeface="Cabin"/>
                  <a:sym typeface="Cabin"/>
                </a:rPr>
                <a:t> Tổng số lều ở mỗi hàng và mỗi cột phải bằng con số gợi ý đã cho ở đầu hàng hoặc cột đó.</a:t>
              </a:r>
            </a:p>
          </p:txBody>
        </p:sp>
        <p:sp>
          <p:nvSpPr>
            <p:cNvPr name="TextBox 21" id="21"/>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Luật chơi</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3143906"/>
            <a:ext cx="16445245" cy="3999188"/>
            <a:chOff x="0" y="0"/>
            <a:chExt cx="5999270" cy="1458915"/>
          </a:xfrm>
        </p:grpSpPr>
        <p:sp>
          <p:nvSpPr>
            <p:cNvPr name="Freeform 4" id="4"/>
            <p:cNvSpPr/>
            <p:nvPr/>
          </p:nvSpPr>
          <p:spPr>
            <a:xfrm flipH="false" flipV="false" rot="0">
              <a:off x="0" y="0"/>
              <a:ext cx="5999270" cy="1458915"/>
            </a:xfrm>
            <a:custGeom>
              <a:avLst/>
              <a:gdLst/>
              <a:ahLst/>
              <a:cxnLst/>
              <a:rect r="r" b="b" t="t" l="l"/>
              <a:pathLst>
                <a:path h="1458915" w="5999270">
                  <a:moveTo>
                    <a:pt x="0" y="0"/>
                  </a:moveTo>
                  <a:lnTo>
                    <a:pt x="5999270" y="0"/>
                  </a:lnTo>
                  <a:lnTo>
                    <a:pt x="5999270" y="1458915"/>
                  </a:lnTo>
                  <a:lnTo>
                    <a:pt x="0" y="1458915"/>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9" id="9"/>
          <p:cNvSpPr txBox="true"/>
          <p:nvPr/>
        </p:nvSpPr>
        <p:spPr>
          <a:xfrm rot="0">
            <a:off x="3343782" y="4457700"/>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0" id="10"/>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5768744"/>
            <a:chOff x="0" y="0"/>
            <a:chExt cx="5999270" cy="2104453"/>
          </a:xfrm>
        </p:grpSpPr>
        <p:sp>
          <p:nvSpPr>
            <p:cNvPr name="Freeform 6" id="6"/>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448709"/>
            <a:chOff x="0" y="0"/>
            <a:chExt cx="19873832" cy="5931612"/>
          </a:xfrm>
        </p:grpSpPr>
        <p:sp>
          <p:nvSpPr>
            <p:cNvPr name="TextBox 15" id="15"/>
            <p:cNvSpPr txBox="true"/>
            <p:nvPr/>
          </p:nvSpPr>
          <p:spPr>
            <a:xfrm rot="0">
              <a:off x="0" y="1230071"/>
              <a:ext cx="19873832" cy="47015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Thuật toá</a:t>
              </a:r>
              <a:r>
                <a:rPr lang="en-US" sz="3599">
                  <a:solidFill>
                    <a:srgbClr val="000000"/>
                  </a:solidFill>
                  <a:latin typeface="Cabin"/>
                  <a:ea typeface="Cabin"/>
                  <a:cs typeface="Cabin"/>
                  <a:sym typeface="Cabin"/>
                </a:rPr>
                <a:t>n thực hiện </a:t>
              </a:r>
              <a:r>
                <a:rPr lang="en-US" sz="3599">
                  <a:solidFill>
                    <a:srgbClr val="003EA8"/>
                  </a:solidFill>
                  <a:latin typeface="Cabin"/>
                  <a:ea typeface="Cabin"/>
                  <a:cs typeface="Cabin"/>
                  <a:sym typeface="Cabin"/>
                </a:rPr>
                <a:t>duyệt qua từng cây một</a:t>
              </a:r>
              <a:r>
                <a:rPr lang="en-US" sz="3599">
                  <a:solidFill>
                    <a:srgbClr val="000000"/>
                  </a:solidFill>
                  <a:latin typeface="Cabin"/>
                  <a:ea typeface="Cabin"/>
                  <a:cs typeface="Cabin"/>
                  <a:sym typeface="Cabin"/>
                </a:rPr>
                <a:t>.</a:t>
              </a:r>
            </a:p>
            <a:p>
              <a:pPr algn="just" marL="777232" indent="-388616" lvl="1">
                <a:lnSpc>
                  <a:spcPts val="4679"/>
                </a:lnSpc>
                <a:buFont typeface="Arial"/>
                <a:buChar char="•"/>
              </a:pPr>
              <a:r>
                <a:rPr lang="en-US" sz="3599">
                  <a:solidFill>
                    <a:srgbClr val="000000"/>
                  </a:solidFill>
                  <a:latin typeface="Cabin"/>
                  <a:ea typeface="Cabin"/>
                  <a:cs typeface="Cabin"/>
                  <a:sym typeface="Cabin"/>
                </a:rPr>
                <a:t>Với mỗi cây, thử </a:t>
              </a:r>
              <a:r>
                <a:rPr lang="en-US" sz="3599">
                  <a:solidFill>
                    <a:srgbClr val="003EA8"/>
                  </a:solidFill>
                  <a:latin typeface="Cabin"/>
                  <a:ea typeface="Cabin"/>
                  <a:cs typeface="Cabin"/>
                  <a:sym typeface="Cabin"/>
                </a:rPr>
                <a:t>đặt lều ở một trong bốn hướng</a:t>
              </a:r>
              <a:r>
                <a:rPr lang="en-US" sz="3599">
                  <a:solidFill>
                    <a:srgbClr val="000000"/>
                  </a:solidFill>
                  <a:latin typeface="Cabin"/>
                  <a:ea typeface="Cabin"/>
                  <a:cs typeface="Cabin"/>
                  <a:sym typeface="Cabin"/>
                </a:rPr>
                <a:t> khả thi </a:t>
              </a:r>
              <a:r>
                <a:rPr lang="en-US" sz="3599">
                  <a:solidFill>
                    <a:srgbClr val="003EA8"/>
                  </a:solidFill>
                  <a:latin typeface="Cabin"/>
                  <a:ea typeface="Cabin"/>
                  <a:cs typeface="Cabin"/>
                  <a:sym typeface="Cabin"/>
                </a:rPr>
                <a:t>(trái, phải, trên, dưới)</a:t>
              </a:r>
              <a:r>
                <a:rPr lang="en-US" sz="3599">
                  <a:solidFill>
                    <a:srgbClr val="000000"/>
                  </a:solidFill>
                  <a:latin typeface="Cabin"/>
                  <a:ea typeface="Cabin"/>
                  <a:cs typeface="Cabin"/>
                  <a:sym typeface="Cabin"/>
                </a:rPr>
                <a:t>. Nếu không vi phạm luật chơi, thuật toán sẽ chuyển sang cây tiếp theo bằng đệ quy.</a:t>
              </a:r>
            </a:p>
            <a:p>
              <a:pPr algn="just" marL="777232" indent="-388616" lvl="1">
                <a:lnSpc>
                  <a:spcPts val="4679"/>
                </a:lnSpc>
                <a:buFont typeface="Arial"/>
                <a:buChar char="•"/>
              </a:pPr>
              <a:r>
                <a:rPr lang="en-US" sz="3599">
                  <a:solidFill>
                    <a:srgbClr val="000000"/>
                  </a:solidFill>
                  <a:latin typeface="Cabin"/>
                  <a:ea typeface="Cabin"/>
                  <a:cs typeface="Cabin"/>
                  <a:sym typeface="Cabin"/>
                </a:rPr>
                <a:t>Nếu </a:t>
              </a:r>
              <a:r>
                <a:rPr lang="en-US" sz="3599">
                  <a:solidFill>
                    <a:srgbClr val="003EA8"/>
                  </a:solidFill>
                  <a:latin typeface="Cabin"/>
                  <a:ea typeface="Cabin"/>
                  <a:cs typeface="Cabin"/>
                  <a:sym typeface="Cabin"/>
                </a:rPr>
                <a:t>không có hướng nào để đặt lều</a:t>
              </a:r>
              <a:r>
                <a:rPr lang="en-US" sz="3599">
                  <a:solidFill>
                    <a:srgbClr val="000000"/>
                  </a:solidFill>
                  <a:latin typeface="Cabin"/>
                  <a:ea typeface="Cabin"/>
                  <a:cs typeface="Cabin"/>
                  <a:sym typeface="Cabin"/>
                </a:rPr>
                <a:t> cho cây đang xét, thuật toán sẽ </a:t>
              </a:r>
              <a:r>
                <a:rPr lang="en-US" sz="3599">
                  <a:solidFill>
                    <a:srgbClr val="003EA8"/>
                  </a:solidFill>
                  <a:latin typeface="Cabin"/>
                  <a:ea typeface="Cabin"/>
                  <a:cs typeface="Cabin"/>
                  <a:sym typeface="Cabin"/>
                </a:rPr>
                <a:t>quay lại cây trước đó, loại bỏ lều đã đặt và thử hướng khác.</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Ý tưởng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343095"/>
            <a:chOff x="0" y="0"/>
            <a:chExt cx="5999270" cy="2313978"/>
          </a:xfrm>
        </p:grpSpPr>
        <p:sp>
          <p:nvSpPr>
            <p:cNvPr name="Freeform 6" id="6"/>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843679"/>
            <a:chOff x="0" y="0"/>
            <a:chExt cx="19873832" cy="6458239"/>
          </a:xfrm>
        </p:grpSpPr>
        <p:sp>
          <p:nvSpPr>
            <p:cNvPr name="TextBox 15" id="15"/>
            <p:cNvSpPr txBox="true"/>
            <p:nvPr/>
          </p:nvSpPr>
          <p:spPr>
            <a:xfrm rot="0">
              <a:off x="0" y="1230071"/>
              <a:ext cx="19873832" cy="52281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tổng quát (Global</a:t>
              </a:r>
              <a:r>
                <a:rPr lang="en-US" b="true" sz="3999">
                  <a:solidFill>
                    <a:srgbClr val="003EA8"/>
                  </a:solidFill>
                  <a:latin typeface="Cabin Bold"/>
                  <a:ea typeface="Cabin Bold"/>
                  <a:cs typeface="Cabin Bold"/>
                  <a:sym typeface="Cabin Bold"/>
                </a:rPr>
                <a:t> State):</a:t>
              </a:r>
            </a:p>
            <a:p>
              <a:pPr algn="just" marL="863590" indent="-431795" lvl="1">
                <a:lnSpc>
                  <a:spcPts val="5199"/>
                </a:lnSpc>
                <a:buFont typeface="Arial"/>
                <a:buChar char="•"/>
              </a:pPr>
              <a:r>
                <a:rPr lang="en-US" sz="3999">
                  <a:solidFill>
                    <a:srgbClr val="003EA8"/>
                  </a:solidFill>
                  <a:latin typeface="Cabin"/>
                  <a:ea typeface="Cabin"/>
                  <a:cs typeface="Cabin"/>
                  <a:sym typeface="Cabin"/>
                </a:rPr>
                <a:t>Thành phần cố định:</a:t>
              </a:r>
              <a:r>
                <a:rPr lang="en-US" sz="3999">
                  <a:solidFill>
                    <a:srgbClr val="000000"/>
                  </a:solidFill>
                  <a:latin typeface="Cabin"/>
                  <a:ea typeface="Cabin"/>
                  <a:cs typeface="Cabin"/>
                  <a:sym typeface="Cabin"/>
                </a:rPr>
                <a:t> Tọa độ</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củ</a:t>
              </a:r>
              <a:r>
                <a:rPr lang="en-US" sz="3999">
                  <a:solidFill>
                    <a:srgbClr val="000000"/>
                  </a:solidFill>
                  <a:latin typeface="Cabin"/>
                  <a:ea typeface="Cabin"/>
                  <a:cs typeface="Cabin"/>
                  <a:sym typeface="Cabin"/>
                </a:rPr>
                <a:t>a </a:t>
              </a:r>
              <a:r>
                <a:rPr lang="en-US" sz="3999">
                  <a:solidFill>
                    <a:srgbClr val="000000"/>
                  </a:solidFill>
                  <a:latin typeface="Cabin"/>
                  <a:ea typeface="Cabin"/>
                  <a:cs typeface="Cabin"/>
                  <a:sym typeface="Cabin"/>
                </a:rPr>
                <a:t>các</a:t>
              </a:r>
              <a:r>
                <a:rPr lang="en-US" sz="3999">
                  <a:solidFill>
                    <a:srgbClr val="000000"/>
                  </a:solidFill>
                  <a:latin typeface="Cabin"/>
                  <a:ea typeface="Cabin"/>
                  <a:cs typeface="Cabin"/>
                  <a:sym typeface="Cabin"/>
                </a:rPr>
                <a:t> cây </a:t>
              </a:r>
              <a:r>
                <a:rPr lang="en-US" sz="3999">
                  <a:solidFill>
                    <a:srgbClr val="000000"/>
                  </a:solidFill>
                  <a:latin typeface="Cabin"/>
                  <a:ea typeface="Cabin"/>
                  <a:cs typeface="Cabin"/>
                  <a:sym typeface="Cabin"/>
                </a:rPr>
                <a:t>[(hàng,c</a:t>
              </a:r>
              <a:r>
                <a:rPr lang="en-US" sz="3999">
                  <a:solidFill>
                    <a:srgbClr val="000000"/>
                  </a:solidFill>
                  <a:latin typeface="Cabin"/>
                  <a:ea typeface="Cabin"/>
                  <a:cs typeface="Cabin"/>
                  <a:sym typeface="Cabin"/>
                </a:rPr>
                <a:t>ột</a:t>
              </a:r>
              <a:r>
                <a:rPr lang="en-US" sz="3999">
                  <a:solidFill>
                    <a:srgbClr val="000000"/>
                  </a:solidFill>
                  <a:latin typeface="Cabin"/>
                  <a:ea typeface="Cabin"/>
                  <a:cs typeface="Cabin"/>
                  <a:sym typeface="Cabin"/>
                </a:rPr>
                <a:t>),...] và gợi ý số lượng</a:t>
              </a:r>
              <a:r>
                <a:rPr lang="en-US" sz="3999">
                  <a:solidFill>
                    <a:srgbClr val="000000"/>
                  </a:solidFill>
                  <a:latin typeface="Cabin"/>
                  <a:ea typeface="Cabin"/>
                  <a:cs typeface="Cabin"/>
                  <a:sym typeface="Cabin"/>
                </a:rPr>
                <a:t> lều ở m</a:t>
              </a:r>
              <a:r>
                <a:rPr lang="en-US" sz="3999">
                  <a:solidFill>
                    <a:srgbClr val="000000"/>
                  </a:solidFill>
                  <a:latin typeface="Cabin"/>
                  <a:ea typeface="Cabin"/>
                  <a:cs typeface="Cabin"/>
                  <a:sym typeface="Cabin"/>
                </a:rPr>
                <a:t>ỗi</a:t>
              </a:r>
              <a:r>
                <a:rPr lang="en-US" sz="3999">
                  <a:solidFill>
                    <a:srgbClr val="000000"/>
                  </a:solidFill>
                  <a:latin typeface="Cabin"/>
                  <a:ea typeface="Cabin"/>
                  <a:cs typeface="Cabin"/>
                  <a:sym typeface="Cabin"/>
                </a:rPr>
                <a:t> h</a:t>
              </a:r>
              <a:r>
                <a:rPr lang="en-US" sz="3999">
                  <a:solidFill>
                    <a:srgbClr val="000000"/>
                  </a:solidFill>
                  <a:latin typeface="Cabin"/>
                  <a:ea typeface="Cabin"/>
                  <a:cs typeface="Cabin"/>
                  <a:sym typeface="Cabin"/>
                </a:rPr>
                <a:t>à</a:t>
              </a:r>
              <a:r>
                <a:rPr lang="en-US" sz="3999">
                  <a:solidFill>
                    <a:srgbClr val="000000"/>
                  </a:solidFill>
                  <a:latin typeface="Cabin"/>
                  <a:ea typeface="Cabin"/>
                  <a:cs typeface="Cabin"/>
                  <a:sym typeface="Cabin"/>
                </a:rPr>
                <a:t>ng</a:t>
              </a:r>
              <a:r>
                <a:rPr lang="en-US" sz="3999">
                  <a:solidFill>
                    <a:srgbClr val="000000"/>
                  </a:solidFill>
                  <a:latin typeface="Cabin"/>
                  <a:ea typeface="Cabin"/>
                  <a:cs typeface="Cabin"/>
                  <a:sym typeface="Cabin"/>
                </a:rPr>
                <a:t> và mỗi cộ</a:t>
              </a:r>
              <a:r>
                <a:rPr lang="en-US" sz="3999">
                  <a:solidFill>
                    <a:srgbClr val="000000"/>
                  </a:solidFill>
                  <a:latin typeface="Cabin"/>
                  <a:ea typeface="Cabin"/>
                  <a:cs typeface="Cabin"/>
                  <a:sym typeface="Cabin"/>
                </a:rPr>
                <a:t>t</a:t>
              </a:r>
              <a:r>
                <a:rPr lang="en-US" sz="3999">
                  <a:solidFill>
                    <a:srgbClr val="000000"/>
                  </a:solidFill>
                  <a:latin typeface="Cabin"/>
                  <a:ea typeface="Cabin"/>
                  <a:cs typeface="Cabin"/>
                  <a:sym typeface="Cabin"/>
                </a:rPr>
                <a:t>.</a:t>
              </a:r>
            </a:p>
            <a:p>
              <a:pPr algn="just" marL="863590" indent="-431795" lvl="1">
                <a:lnSpc>
                  <a:spcPts val="5199"/>
                </a:lnSpc>
                <a:buFont typeface="Arial"/>
                <a:buChar char="•"/>
              </a:pPr>
              <a:r>
                <a:rPr lang="en-US" sz="3999">
                  <a:solidFill>
                    <a:srgbClr val="003EA8"/>
                  </a:solidFill>
                  <a:latin typeface="Cabin"/>
                  <a:ea typeface="Cabin"/>
                  <a:cs typeface="Cabin"/>
                  <a:sym typeface="Cabin"/>
                </a:rPr>
                <a:t>T</a:t>
              </a:r>
              <a:r>
                <a:rPr lang="en-US" sz="3999">
                  <a:solidFill>
                    <a:srgbClr val="003EA8"/>
                  </a:solidFill>
                  <a:latin typeface="Cabin"/>
                  <a:ea typeface="Cabin"/>
                  <a:cs typeface="Cabin"/>
                  <a:sym typeface="Cabin"/>
                </a:rPr>
                <a:t>h</a:t>
              </a:r>
              <a:r>
                <a:rPr lang="en-US" sz="3999">
                  <a:solidFill>
                    <a:srgbClr val="003EA8"/>
                  </a:solidFill>
                  <a:latin typeface="Cabin"/>
                  <a:ea typeface="Cabin"/>
                  <a:cs typeface="Cabin"/>
                  <a:sym typeface="Cabin"/>
                </a:rPr>
                <a:t>à</a:t>
              </a:r>
              <a:r>
                <a:rPr lang="en-US" sz="3999">
                  <a:solidFill>
                    <a:srgbClr val="003EA8"/>
                  </a:solidFill>
                  <a:latin typeface="Cabin"/>
                  <a:ea typeface="Cabin"/>
                  <a:cs typeface="Cabin"/>
                  <a:sym typeface="Cabin"/>
                </a:rPr>
                <a:t>n</a:t>
              </a:r>
              <a:r>
                <a:rPr lang="en-US" sz="3999">
                  <a:solidFill>
                    <a:srgbClr val="003EA8"/>
                  </a:solidFill>
                  <a:latin typeface="Cabin"/>
                  <a:ea typeface="Cabin"/>
                  <a:cs typeface="Cabin"/>
                  <a:sym typeface="Cabin"/>
                </a:rPr>
                <a:t>h phần thay đổi:</a:t>
              </a:r>
              <a:r>
                <a:rPr lang="en-US" sz="3999">
                  <a:solidFill>
                    <a:srgbClr val="000000"/>
                  </a:solidFill>
                  <a:latin typeface="Cabin"/>
                  <a:ea typeface="Cabin"/>
                  <a:cs typeface="Cabin"/>
                  <a:sym typeface="Cabin"/>
                </a:rPr>
                <a:t> Danh sách tọa độ các lều [(hàng,cột),...] đã được đặt vào</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ma</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trậ</a:t>
              </a:r>
              <a:r>
                <a:rPr lang="en-US" sz="3999">
                  <a:solidFill>
                    <a:srgbClr val="000000"/>
                  </a:solidFill>
                  <a:latin typeface="Cabin"/>
                  <a:ea typeface="Cabin"/>
                  <a:cs typeface="Cabin"/>
                  <a:sym typeface="Cabin"/>
                </a:rPr>
                <a:t>n </a:t>
              </a:r>
              <a:r>
                <a:rPr lang="en-US" sz="3999">
                  <a:solidFill>
                    <a:srgbClr val="000000"/>
                  </a:solidFill>
                  <a:latin typeface="Cabin"/>
                  <a:ea typeface="Cabin"/>
                  <a:cs typeface="Cabin"/>
                  <a:sym typeface="Cabin"/>
                </a:rPr>
                <a:t>ở một thời</a:t>
              </a:r>
              <a:r>
                <a:rPr lang="en-US" sz="3999">
                  <a:solidFill>
                    <a:srgbClr val="000000"/>
                  </a:solidFill>
                  <a:latin typeface="Cabin"/>
                  <a:ea typeface="Cabin"/>
                  <a:cs typeface="Cabin"/>
                  <a:sym typeface="Cabin"/>
                </a:rPr>
                <a:t> đ</a:t>
              </a:r>
              <a:r>
                <a:rPr lang="en-US" sz="3999">
                  <a:solidFill>
                    <a:srgbClr val="000000"/>
                  </a:solidFill>
                  <a:latin typeface="Cabin"/>
                  <a:ea typeface="Cabin"/>
                  <a:cs typeface="Cabin"/>
                  <a:sym typeface="Cabin"/>
                </a:rPr>
                <a:t>i</a:t>
              </a:r>
              <a:r>
                <a:rPr lang="en-US" sz="3999">
                  <a:solidFill>
                    <a:srgbClr val="000000"/>
                  </a:solidFill>
                  <a:latin typeface="Cabin"/>
                  <a:ea typeface="Cabin"/>
                  <a:cs typeface="Cabin"/>
                  <a:sym typeface="Cabin"/>
                </a:rPr>
                <a:t>ể</a:t>
              </a:r>
              <a:r>
                <a:rPr lang="en-US" sz="3999">
                  <a:solidFill>
                    <a:srgbClr val="000000"/>
                  </a:solidFill>
                  <a:latin typeface="Cabin"/>
                  <a:ea typeface="Cabin"/>
                  <a:cs typeface="Cabin"/>
                  <a:sym typeface="Cabin"/>
                </a:rPr>
                <a:t>m</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bấ</a:t>
              </a:r>
              <a:r>
                <a:rPr lang="en-US" sz="3999">
                  <a:solidFill>
                    <a:srgbClr val="000000"/>
                  </a:solidFill>
                  <a:latin typeface="Cabin"/>
                  <a:ea typeface="Cabin"/>
                  <a:cs typeface="Cabin"/>
                  <a:sym typeface="Cabin"/>
                </a:rPr>
                <a:t>t </a:t>
              </a:r>
              <a:r>
                <a:rPr lang="en-US" sz="3999">
                  <a:solidFill>
                    <a:srgbClr val="000000"/>
                  </a:solidFill>
                  <a:latin typeface="Cabin"/>
                  <a:ea typeface="Cabin"/>
                  <a:cs typeface="Cabin"/>
                  <a:sym typeface="Cabin"/>
                </a:rPr>
                <a:t>kỳ.</a:t>
              </a:r>
            </a:p>
            <a:p>
              <a:pPr algn="just" marL="863590" indent="-431795" lvl="1">
                <a:lnSpc>
                  <a:spcPts val="5199"/>
                </a:lnSpc>
                <a:buFont typeface="Arial"/>
                <a:buChar char="•"/>
              </a:pPr>
              <a:r>
                <a:rPr lang="en-US" sz="3999">
                  <a:solidFill>
                    <a:srgbClr val="003EA8"/>
                  </a:solidFill>
                  <a:latin typeface="Cabin"/>
                  <a:ea typeface="Cabin"/>
                  <a:cs typeface="Cabin"/>
                  <a:sym typeface="Cabin"/>
                </a:rPr>
                <a:t>Chỉ số cây:</a:t>
              </a:r>
              <a:r>
                <a:rPr lang="en-US" sz="3999">
                  <a:solidFill>
                    <a:srgbClr val="000000"/>
                  </a:solidFill>
                  <a:latin typeface="Cabin"/>
                  <a:ea typeface="Cabin"/>
                  <a:cs typeface="Cabin"/>
                  <a:sym typeface="Cabin"/>
                </a:rPr>
                <a:t> Chỉ thứ tự củ</a:t>
              </a:r>
              <a:r>
                <a:rPr lang="en-US" sz="3999">
                  <a:solidFill>
                    <a:srgbClr val="000000"/>
                  </a:solidFill>
                  <a:latin typeface="Cabin"/>
                  <a:ea typeface="Cabin"/>
                  <a:cs typeface="Cabin"/>
                  <a:sym typeface="Cabin"/>
                </a:rPr>
                <a:t>a cây </a:t>
              </a:r>
              <a:r>
                <a:rPr lang="en-US" sz="3999">
                  <a:solidFill>
                    <a:srgbClr val="000000"/>
                  </a:solidFill>
                  <a:latin typeface="Cabin"/>
                  <a:ea typeface="Cabin"/>
                  <a:cs typeface="Cabin"/>
                  <a:sym typeface="Cabin"/>
                </a:rPr>
                <a:t>hiện</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t</a:t>
              </a:r>
              <a:r>
                <a:rPr lang="en-US" sz="3999">
                  <a:solidFill>
                    <a:srgbClr val="000000"/>
                  </a:solidFill>
                  <a:latin typeface="Cabin"/>
                  <a:ea typeface="Cabin"/>
                  <a:cs typeface="Cabin"/>
                  <a:sym typeface="Cabin"/>
                </a:rPr>
                <a:t>ại đ</a:t>
              </a:r>
              <a:r>
                <a:rPr lang="en-US" sz="3999">
                  <a:solidFill>
                    <a:srgbClr val="000000"/>
                  </a:solidFill>
                  <a:latin typeface="Cabin"/>
                  <a:ea typeface="Cabin"/>
                  <a:cs typeface="Cabin"/>
                  <a:sym typeface="Cabin"/>
                </a:rPr>
                <a:t>a</a:t>
              </a:r>
              <a:r>
                <a:rPr lang="en-US" sz="3999">
                  <a:solidFill>
                    <a:srgbClr val="000000"/>
                  </a:solidFill>
                  <a:latin typeface="Cabin"/>
                  <a:ea typeface="Cabin"/>
                  <a:cs typeface="Cabin"/>
                  <a:sym typeface="Cabin"/>
                </a:rPr>
                <a:t>ng </a:t>
              </a:r>
              <a:r>
                <a:rPr lang="en-US" sz="3999">
                  <a:solidFill>
                    <a:srgbClr val="000000"/>
                  </a:solidFill>
                  <a:latin typeface="Cabin"/>
                  <a:ea typeface="Cabin"/>
                  <a:cs typeface="Cabin"/>
                  <a:sym typeface="Cabin"/>
                </a:rPr>
                <a:t>xét</a:t>
              </a:r>
              <a:r>
                <a:rPr lang="en-US" sz="3999">
                  <a:solidFill>
                    <a:srgbClr val="000000"/>
                  </a:solidFill>
                  <a:latin typeface="Cabin"/>
                  <a:ea typeface="Cabin"/>
                  <a:cs typeface="Cabin"/>
                  <a:sym typeface="Cabin"/>
                </a:rPr>
                <a:t>.</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343095"/>
            <a:chOff x="0" y="0"/>
            <a:chExt cx="5999270" cy="2313978"/>
          </a:xfrm>
        </p:grpSpPr>
        <p:sp>
          <p:nvSpPr>
            <p:cNvPr name="Freeform 6" id="6"/>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186454"/>
            <a:chOff x="0" y="0"/>
            <a:chExt cx="19873832" cy="5581939"/>
          </a:xfrm>
        </p:grpSpPr>
        <p:sp>
          <p:nvSpPr>
            <p:cNvPr name="TextBox 15" id="15"/>
            <p:cNvSpPr txBox="true"/>
            <p:nvPr/>
          </p:nvSpPr>
          <p:spPr>
            <a:xfrm rot="0">
              <a:off x="0" y="1230071"/>
              <a:ext cx="19873832" cy="43518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bắt đầu (Initial</a:t>
              </a:r>
              <a:r>
                <a:rPr lang="en-US" b="true" sz="3999">
                  <a:solidFill>
                    <a:srgbClr val="003EA8"/>
                  </a:solidFill>
                  <a:latin typeface="Cabin Bold"/>
                  <a:ea typeface="Cabin Bold"/>
                  <a:cs typeface="Cabin Bold"/>
                  <a:sym typeface="Cabin Bold"/>
                </a:rPr>
                <a:t> State):</a:t>
              </a:r>
            </a:p>
            <a:p>
              <a:pPr algn="l" marL="863590" indent="-431795" lvl="1">
                <a:lnSpc>
                  <a:spcPts val="5199"/>
                </a:lnSpc>
                <a:buFont typeface="Arial"/>
                <a:buChar char="•"/>
              </a:pPr>
              <a:r>
                <a:rPr lang="en-US" sz="3999">
                  <a:solidFill>
                    <a:srgbClr val="000000"/>
                  </a:solidFill>
                  <a:latin typeface="Cabin"/>
                  <a:ea typeface="Cabin"/>
                  <a:cs typeface="Cabin"/>
                  <a:sym typeface="Cabin"/>
                </a:rPr>
                <a:t>Ma trận chỉ chứa các các cây và các số gợi ý ở mỗi hàng và mỗi cột.</a:t>
              </a:r>
            </a:p>
            <a:p>
              <a:pPr algn="l" marL="863590" indent="-431795" lvl="1">
                <a:lnSpc>
                  <a:spcPts val="5199"/>
                </a:lnSpc>
                <a:buFont typeface="Arial"/>
                <a:buChar char="•"/>
              </a:pPr>
              <a:r>
                <a:rPr lang="en-US" sz="3999">
                  <a:solidFill>
                    <a:srgbClr val="000000"/>
                  </a:solidFill>
                  <a:latin typeface="Cabin"/>
                  <a:ea typeface="Cabin"/>
                  <a:cs typeface="Cabin"/>
                  <a:sym typeface="Cabin"/>
                </a:rPr>
                <a:t>Không có lều nào ở trong ma trận (danh sách lều rỗng).</a:t>
              </a:r>
            </a:p>
            <a:p>
              <a:pPr algn="l" marL="863590" indent="-431795" lvl="1">
                <a:lnSpc>
                  <a:spcPts val="5199"/>
                </a:lnSpc>
                <a:buFont typeface="Arial"/>
                <a:buChar char="•"/>
              </a:pPr>
              <a:r>
                <a:rPr lang="en-US" sz="3999">
                  <a:solidFill>
                    <a:srgbClr val="000000"/>
                  </a:solidFill>
                  <a:latin typeface="Cabin"/>
                  <a:ea typeface="Cabin"/>
                  <a:cs typeface="Cabin"/>
                  <a:sym typeface="Cabin"/>
                </a:rPr>
                <a:t>Xét từ cây có chỉ số bằng 0.</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343095"/>
            <a:chOff x="0" y="0"/>
            <a:chExt cx="5999270" cy="2313978"/>
          </a:xfrm>
        </p:grpSpPr>
        <p:sp>
          <p:nvSpPr>
            <p:cNvPr name="Freeform 6" id="6"/>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186454"/>
            <a:chOff x="0" y="0"/>
            <a:chExt cx="19873832" cy="5581939"/>
          </a:xfrm>
        </p:grpSpPr>
        <p:sp>
          <p:nvSpPr>
            <p:cNvPr name="TextBox 15" id="15"/>
            <p:cNvSpPr txBox="true"/>
            <p:nvPr/>
          </p:nvSpPr>
          <p:spPr>
            <a:xfrm rot="0">
              <a:off x="0" y="1230071"/>
              <a:ext cx="19873832" cy="43518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kết thúc (Final</a:t>
              </a:r>
              <a:r>
                <a:rPr lang="en-US" b="true" sz="3999">
                  <a:solidFill>
                    <a:srgbClr val="003EA8"/>
                  </a:solidFill>
                  <a:latin typeface="Cabin Bold"/>
                  <a:ea typeface="Cabin Bold"/>
                  <a:cs typeface="Cabin Bold"/>
                  <a:sym typeface="Cabin Bold"/>
                </a:rPr>
                <a:t> State):</a:t>
              </a:r>
            </a:p>
            <a:p>
              <a:pPr algn="l" marL="863590" indent="-431795" lvl="1">
                <a:lnSpc>
                  <a:spcPts val="5199"/>
                </a:lnSpc>
                <a:buFont typeface="Arial"/>
                <a:buChar char="•"/>
              </a:pPr>
              <a:r>
                <a:rPr lang="en-US" sz="3999">
                  <a:solidFill>
                    <a:srgbClr val="000000"/>
                  </a:solidFill>
                  <a:latin typeface="Cabin"/>
                  <a:ea typeface="Cabin"/>
                  <a:cs typeface="Cabin"/>
                  <a:sym typeface="Cabin"/>
                </a:rPr>
                <a:t>Mỗi cây trong ma trận đã được ghép cặp với đúng một chiếc lều duy nhất.</a:t>
              </a:r>
            </a:p>
            <a:p>
              <a:pPr algn="l" marL="863590" indent="-431795" lvl="1">
                <a:lnSpc>
                  <a:spcPts val="5199"/>
                </a:lnSpc>
                <a:buFont typeface="Arial"/>
                <a:buChar char="•"/>
              </a:pPr>
              <a:r>
                <a:rPr lang="en-US" sz="3999">
                  <a:solidFill>
                    <a:srgbClr val="000000"/>
                  </a:solidFill>
                  <a:latin typeface="Cabin"/>
                  <a:ea typeface="Cabin"/>
                  <a:cs typeface="Cabin"/>
                  <a:sym typeface="Cabin"/>
                </a:rPr>
                <a:t>Tổng số lều ở mỗi hàng và mỗi cột phải bằng đúng với các con số gợi</a:t>
              </a:r>
              <a:r>
                <a:rPr lang="en-US" sz="3999">
                  <a:solidFill>
                    <a:srgbClr val="000000"/>
                  </a:solidFill>
                  <a:latin typeface="Cabin"/>
                  <a:ea typeface="Cabin"/>
                  <a:cs typeface="Cabin"/>
                  <a:sym typeface="Cabin"/>
                </a:rPr>
                <a:t> ý đã cho trước.</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343095"/>
            <a:chOff x="0" y="0"/>
            <a:chExt cx="5999270" cy="2313978"/>
          </a:xfrm>
        </p:grpSpPr>
        <p:sp>
          <p:nvSpPr>
            <p:cNvPr name="Freeform 6" id="6"/>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186454"/>
            <a:chOff x="0" y="0"/>
            <a:chExt cx="19873832" cy="5581939"/>
          </a:xfrm>
        </p:grpSpPr>
        <p:sp>
          <p:nvSpPr>
            <p:cNvPr name="TextBox 15" id="15"/>
            <p:cNvSpPr txBox="true"/>
            <p:nvPr/>
          </p:nvSpPr>
          <p:spPr>
            <a:xfrm rot="0">
              <a:off x="0" y="1230071"/>
              <a:ext cx="19873832" cy="43518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Các bước chuyển trạng thái (Transitions</a:t>
              </a:r>
              <a:r>
                <a:rPr lang="en-US" b="true" sz="3999">
                  <a:solidFill>
                    <a:srgbClr val="003EA8"/>
                  </a:solidFill>
                  <a:latin typeface="Cabin Bold"/>
                  <a:ea typeface="Cabin Bold"/>
                  <a:cs typeface="Cabin Bold"/>
                  <a:sym typeface="Cabin Bold"/>
                </a:rPr>
                <a:t>):</a:t>
              </a:r>
            </a:p>
            <a:p>
              <a:pPr algn="just">
                <a:lnSpc>
                  <a:spcPts val="5199"/>
                </a:lnSpc>
              </a:pPr>
              <a:r>
                <a:rPr lang="en-US" sz="3999">
                  <a:solidFill>
                    <a:srgbClr val="000000"/>
                  </a:solidFill>
                  <a:latin typeface="Cabin"/>
                  <a:ea typeface="Cabin"/>
                  <a:cs typeface="Cabin"/>
                  <a:sym typeface="Cabin"/>
                </a:rPr>
                <a:t>Bước chuyển là việc chuyển từ việc xét </a:t>
              </a:r>
              <a:r>
                <a:rPr lang="en-US" sz="3999">
                  <a:solidFill>
                    <a:srgbClr val="003EA8"/>
                  </a:solidFill>
                  <a:latin typeface="Cabin"/>
                  <a:ea typeface="Cabin"/>
                  <a:cs typeface="Cabin"/>
                  <a:sym typeface="Cabin"/>
                </a:rPr>
                <a:t>cây thứ i</a:t>
              </a:r>
              <a:r>
                <a:rPr lang="en-US" sz="3999">
                  <a:solidFill>
                    <a:srgbClr val="000000"/>
                  </a:solidFill>
                  <a:latin typeface="Cabin"/>
                  <a:ea typeface="Cabin"/>
                  <a:cs typeface="Cabin"/>
                  <a:sym typeface="Cabin"/>
                </a:rPr>
                <a:t> sang cây </a:t>
              </a:r>
              <a:r>
                <a:rPr lang="en-US" sz="3999">
                  <a:solidFill>
                    <a:srgbClr val="003EA8"/>
                  </a:solidFill>
                  <a:latin typeface="Cabin"/>
                  <a:ea typeface="Cabin"/>
                  <a:cs typeface="Cabin"/>
                  <a:sym typeface="Cabin"/>
                </a:rPr>
                <a:t>thứ i + 1</a:t>
              </a:r>
              <a:r>
                <a:rPr lang="en-US" sz="3999">
                  <a:solidFill>
                    <a:srgbClr val="000000"/>
                  </a:solidFill>
                  <a:latin typeface="Cabin"/>
                  <a:ea typeface="Cabin"/>
                  <a:cs typeface="Cabin"/>
                  <a:sym typeface="Cabin"/>
                </a:rPr>
                <a:t> bằng cách thực hiện các hành động sau:</a:t>
              </a:r>
            </a:p>
            <a:p>
              <a:pPr algn="l" marL="863590" indent="-431795" lvl="1">
                <a:lnSpc>
                  <a:spcPts val="5199"/>
                </a:lnSpc>
                <a:buFont typeface="Arial"/>
                <a:buChar char="•"/>
              </a:pPr>
              <a:r>
                <a:rPr lang="en-US" b="true" sz="3999">
                  <a:solidFill>
                    <a:srgbClr val="003EA8"/>
                  </a:solidFill>
                  <a:latin typeface="Cabin Bold"/>
                  <a:ea typeface="Cabin Bold"/>
                  <a:cs typeface="Cabin Bold"/>
                  <a:sym typeface="Cabin Bold"/>
                </a:rPr>
                <a:t>Chọn</a:t>
              </a:r>
              <a:r>
                <a:rPr lang="en-US" b="true" sz="3999">
                  <a:solidFill>
                    <a:srgbClr val="003EA8"/>
                  </a:solidFill>
                  <a:latin typeface="Cabin Bold"/>
                  <a:ea typeface="Cabin Bold"/>
                  <a:cs typeface="Cabin Bold"/>
                  <a:sym typeface="Cabin Bold"/>
                </a:rPr>
                <a:t> hướng:</a:t>
              </a:r>
              <a:r>
                <a:rPr lang="en-US" sz="3999">
                  <a:solidFill>
                    <a:srgbClr val="000000"/>
                  </a:solidFill>
                  <a:latin typeface="Cabin"/>
                  <a:ea typeface="Cabin"/>
                  <a:cs typeface="Cabin"/>
                  <a:sym typeface="Cabin"/>
                </a:rPr>
                <a:t> Đặt một cái lều vào một trong bốn hướng </a:t>
              </a:r>
              <a:r>
                <a:rPr lang="en-US" sz="3999">
                  <a:solidFill>
                    <a:srgbClr val="003EA8"/>
                  </a:solidFill>
                  <a:latin typeface="Cabin"/>
                  <a:ea typeface="Cabin"/>
                  <a:cs typeface="Cabin"/>
                  <a:sym typeface="Cabin"/>
                </a:rPr>
                <a:t>(trái, phải, trên, dưới)</a:t>
              </a:r>
              <a:r>
                <a:rPr lang="en-US" sz="3999">
                  <a:solidFill>
                    <a:srgbClr val="000000"/>
                  </a:solidFill>
                  <a:latin typeface="Cabin"/>
                  <a:ea typeface="Cabin"/>
                  <a:cs typeface="Cabin"/>
                  <a:sym typeface="Cabin"/>
                </a:rPr>
                <a:t> xung quanh cái cây hiện tại đang xét.</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880233"/>
            <a:chOff x="0" y="0"/>
            <a:chExt cx="5999270" cy="2509928"/>
          </a:xfrm>
        </p:grpSpPr>
        <p:sp>
          <p:nvSpPr>
            <p:cNvPr name="Freeform 6" id="6"/>
            <p:cNvSpPr/>
            <p:nvPr/>
          </p:nvSpPr>
          <p:spPr>
            <a:xfrm flipH="false" flipV="false" rot="0">
              <a:off x="0" y="0"/>
              <a:ext cx="5999270" cy="2509928"/>
            </a:xfrm>
            <a:custGeom>
              <a:avLst/>
              <a:gdLst/>
              <a:ahLst/>
              <a:cxnLst/>
              <a:rect r="r" b="b" t="t" l="l"/>
              <a:pathLst>
                <a:path h="2509928" w="5999270">
                  <a:moveTo>
                    <a:pt x="0" y="0"/>
                  </a:moveTo>
                  <a:lnTo>
                    <a:pt x="5999270" y="0"/>
                  </a:lnTo>
                  <a:lnTo>
                    <a:pt x="5999270" y="2509928"/>
                  </a:lnTo>
                  <a:lnTo>
                    <a:pt x="0" y="250992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6158129"/>
            <a:chOff x="0" y="0"/>
            <a:chExt cx="19873832" cy="8210839"/>
          </a:xfrm>
        </p:grpSpPr>
        <p:sp>
          <p:nvSpPr>
            <p:cNvPr name="TextBox 15" id="15"/>
            <p:cNvSpPr txBox="true"/>
            <p:nvPr/>
          </p:nvSpPr>
          <p:spPr>
            <a:xfrm rot="0">
              <a:off x="0" y="1230071"/>
              <a:ext cx="19873832" cy="69807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Các bước chuyển trạng thái (Transitions</a:t>
              </a:r>
              <a:r>
                <a:rPr lang="en-US" b="true" sz="3999">
                  <a:solidFill>
                    <a:srgbClr val="003EA8"/>
                  </a:solidFill>
                  <a:latin typeface="Cabin Bold"/>
                  <a:ea typeface="Cabin Bold"/>
                  <a:cs typeface="Cabin Bold"/>
                  <a:sym typeface="Cabin Bold"/>
                </a:rPr>
                <a:t>):</a:t>
              </a:r>
            </a:p>
            <a:p>
              <a:pPr algn="l" marL="863590" indent="-431795" lvl="1">
                <a:lnSpc>
                  <a:spcPts val="5199"/>
                </a:lnSpc>
                <a:buFont typeface="Arial"/>
                <a:buChar char="•"/>
              </a:pPr>
              <a:r>
                <a:rPr lang="en-US" b="true" sz="3999">
                  <a:solidFill>
                    <a:srgbClr val="003EA8"/>
                  </a:solidFill>
                  <a:latin typeface="Cabin Bold"/>
                  <a:ea typeface="Cabin Bold"/>
                  <a:cs typeface="Cabin Bold"/>
                  <a:sym typeface="Cabin Bold"/>
                </a:rPr>
                <a:t>Kiểm tra ràng buộc:</a:t>
              </a:r>
              <a:r>
                <a:rPr lang="en-US" sz="3999">
                  <a:solidFill>
                    <a:srgbClr val="000000"/>
                  </a:solidFill>
                  <a:latin typeface="Cabin"/>
                  <a:ea typeface="Cabin"/>
                  <a:cs typeface="Cabin"/>
                  <a:sym typeface="Cabin"/>
                </a:rPr>
                <a:t> Vị trí mới của lều phải</a:t>
              </a:r>
              <a:r>
                <a:rPr lang="en-US" sz="3999">
                  <a:solidFill>
                    <a:srgbClr val="000000"/>
                  </a:solidFill>
                  <a:latin typeface="Cabin"/>
                  <a:ea typeface="Cabin"/>
                  <a:cs typeface="Cabin"/>
                  <a:sym typeface="Cabin"/>
                </a:rPr>
                <a:t> th</a:t>
              </a:r>
              <a:r>
                <a:rPr lang="en-US" sz="3999">
                  <a:solidFill>
                    <a:srgbClr val="000000"/>
                  </a:solidFill>
                  <a:latin typeface="Cabin"/>
                  <a:ea typeface="Cabin"/>
                  <a:cs typeface="Cabin"/>
                  <a:sym typeface="Cabin"/>
                </a:rPr>
                <a:t>ỏa</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mãn các ràng buộc sau:</a:t>
              </a:r>
            </a:p>
            <a:p>
              <a:pPr algn="l" marL="1727179" indent="-575726" lvl="2">
                <a:lnSpc>
                  <a:spcPts val="5199"/>
                </a:lnSpc>
                <a:buFont typeface="Arial"/>
                <a:buChar char="⚬"/>
              </a:pPr>
              <a:r>
                <a:rPr lang="en-US" sz="3999">
                  <a:solidFill>
                    <a:srgbClr val="000000"/>
                  </a:solidFill>
                  <a:latin typeface="Cabin"/>
                  <a:ea typeface="Cabin"/>
                  <a:cs typeface="Cabin"/>
                  <a:sym typeface="Cabin"/>
                </a:rPr>
                <a:t>Nằm trong ma trận và không nằm đè lên cây.</a:t>
              </a:r>
            </a:p>
            <a:p>
              <a:pPr algn="l" marL="1727179" indent="-575726" lvl="2">
                <a:lnSpc>
                  <a:spcPts val="5199"/>
                </a:lnSpc>
                <a:buFont typeface="Arial"/>
                <a:buChar char="⚬"/>
              </a:pPr>
              <a:r>
                <a:rPr lang="en-US" sz="3999">
                  <a:solidFill>
                    <a:srgbClr val="000000"/>
                  </a:solidFill>
                  <a:latin typeface="Cabin"/>
                  <a:ea typeface="Cabin"/>
                  <a:cs typeface="Cabin"/>
                  <a:sym typeface="Cabin"/>
                </a:rPr>
                <a:t>K</a:t>
              </a:r>
              <a:r>
                <a:rPr lang="en-US" sz="3999">
                  <a:solidFill>
                    <a:srgbClr val="000000"/>
                  </a:solidFill>
                  <a:latin typeface="Cabin"/>
                  <a:ea typeface="Cabin"/>
                  <a:cs typeface="Cabin"/>
                  <a:sym typeface="Cabin"/>
                </a:rPr>
                <a:t>h</a:t>
              </a:r>
              <a:r>
                <a:rPr lang="en-US" sz="3999">
                  <a:solidFill>
                    <a:srgbClr val="000000"/>
                  </a:solidFill>
                  <a:latin typeface="Cabin"/>
                  <a:ea typeface="Cabin"/>
                  <a:cs typeface="Cabin"/>
                  <a:sym typeface="Cabin"/>
                </a:rPr>
                <a:t>ông</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vượt</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quá</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số lượng lều được gợi ý của hàng và cột đó.</a:t>
              </a:r>
            </a:p>
            <a:p>
              <a:pPr algn="l" marL="1727179" indent="-575726" lvl="2">
                <a:lnSpc>
                  <a:spcPts val="5199"/>
                </a:lnSpc>
                <a:buFont typeface="Arial"/>
                <a:buChar char="⚬"/>
              </a:pPr>
              <a:r>
                <a:rPr lang="en-US" sz="3999">
                  <a:solidFill>
                    <a:srgbClr val="000000"/>
                  </a:solidFill>
                  <a:latin typeface="Cabin"/>
                  <a:ea typeface="Cabin"/>
                  <a:cs typeface="Cabin"/>
                  <a:sym typeface="Cabin"/>
                </a:rPr>
                <a:t>K</a:t>
              </a:r>
              <a:r>
                <a:rPr lang="en-US" sz="3999">
                  <a:solidFill>
                    <a:srgbClr val="000000"/>
                  </a:solidFill>
                  <a:latin typeface="Cabin"/>
                  <a:ea typeface="Cabin"/>
                  <a:cs typeface="Cabin"/>
                  <a:sym typeface="Cabin"/>
                </a:rPr>
                <a:t>h</a:t>
              </a:r>
              <a:r>
                <a:rPr lang="en-US" sz="3999">
                  <a:solidFill>
                    <a:srgbClr val="000000"/>
                  </a:solidFill>
                  <a:latin typeface="Cabin"/>
                  <a:ea typeface="Cabin"/>
                  <a:cs typeface="Cabin"/>
                  <a:sym typeface="Cabin"/>
                </a:rPr>
                <a:t>ô</a:t>
              </a:r>
              <a:r>
                <a:rPr lang="en-US" sz="3999">
                  <a:solidFill>
                    <a:srgbClr val="000000"/>
                  </a:solidFill>
                  <a:latin typeface="Cabin"/>
                  <a:ea typeface="Cabin"/>
                  <a:cs typeface="Cabin"/>
                  <a:sym typeface="Cabin"/>
                </a:rPr>
                <a:t>ng</a:t>
              </a:r>
              <a:r>
                <a:rPr lang="en-US" sz="3999">
                  <a:solidFill>
                    <a:srgbClr val="000000"/>
                  </a:solidFill>
                  <a:latin typeface="Cabin"/>
                  <a:ea typeface="Cabin"/>
                  <a:cs typeface="Cabin"/>
                  <a:sym typeface="Cabin"/>
                </a:rPr>
                <a:t> tiếp xúc với bất kỳ lều nào đã đặt trước đó </a:t>
              </a:r>
              <a:r>
                <a:rPr lang="en-US" sz="3999">
                  <a:solidFill>
                    <a:srgbClr val="000000"/>
                  </a:solidFill>
                  <a:latin typeface="Cabin"/>
                  <a:ea typeface="Cabin"/>
                  <a:cs typeface="Cabin"/>
                  <a:sym typeface="Cabin"/>
                </a:rPr>
                <a:t>tr</a:t>
              </a:r>
              <a:r>
                <a:rPr lang="en-US" sz="3999">
                  <a:solidFill>
                    <a:srgbClr val="000000"/>
                  </a:solidFill>
                  <a:latin typeface="Cabin"/>
                  <a:ea typeface="Cabin"/>
                  <a:cs typeface="Cabin"/>
                  <a:sym typeface="Cabin"/>
                </a:rPr>
                <a:t>ong</a:t>
              </a:r>
              <a:r>
                <a:rPr lang="en-US" sz="3999">
                  <a:solidFill>
                    <a:srgbClr val="000000"/>
                  </a:solidFill>
                  <a:latin typeface="Cabin"/>
                  <a:ea typeface="Cabin"/>
                  <a:cs typeface="Cabin"/>
                  <a:sym typeface="Cabin"/>
                </a:rPr>
                <a:t> ph</a:t>
              </a:r>
              <a:r>
                <a:rPr lang="en-US" sz="3999">
                  <a:solidFill>
                    <a:srgbClr val="000000"/>
                  </a:solidFill>
                  <a:latin typeface="Cabin"/>
                  <a:ea typeface="Cabin"/>
                  <a:cs typeface="Cabin"/>
                  <a:sym typeface="Cabin"/>
                </a:rPr>
                <a:t>ạm v</a:t>
              </a:r>
              <a:r>
                <a:rPr lang="en-US" sz="3999">
                  <a:solidFill>
                    <a:srgbClr val="000000"/>
                  </a:solidFill>
                  <a:latin typeface="Cabin"/>
                  <a:ea typeface="Cabin"/>
                  <a:cs typeface="Cabin"/>
                  <a:sym typeface="Cabin"/>
                </a:rPr>
                <a:t>i </a:t>
              </a:r>
              <a:r>
                <a:rPr lang="en-US" sz="3999">
                  <a:solidFill>
                    <a:srgbClr val="000000"/>
                  </a:solidFill>
                  <a:latin typeface="Cabin"/>
                  <a:ea typeface="Cabin"/>
                  <a:cs typeface="Cabin"/>
                  <a:sym typeface="Cabin"/>
                </a:rPr>
                <a:t>8</a:t>
              </a:r>
              <a:r>
                <a:rPr lang="en-US" sz="3999">
                  <a:solidFill>
                    <a:srgbClr val="000000"/>
                  </a:solidFill>
                  <a:latin typeface="Cabin"/>
                  <a:ea typeface="Cabin"/>
                  <a:cs typeface="Cabin"/>
                  <a:sym typeface="Cabin"/>
                </a:rPr>
                <a:t> </a:t>
              </a:r>
              <a:r>
                <a:rPr lang="en-US" sz="3999">
                  <a:solidFill>
                    <a:srgbClr val="000000"/>
                  </a:solidFill>
                  <a:latin typeface="Cabin"/>
                  <a:ea typeface="Cabin"/>
                  <a:cs typeface="Cabin"/>
                  <a:sym typeface="Cabin"/>
                </a:rPr>
                <a:t>ô xung quanh </a:t>
              </a:r>
              <a:r>
                <a:rPr lang="en-US" sz="3999">
                  <a:solidFill>
                    <a:srgbClr val="003EA8"/>
                  </a:solidFill>
                  <a:latin typeface="Cabin"/>
                  <a:ea typeface="Cabin"/>
                  <a:cs typeface="Cabin"/>
                  <a:sym typeface="Cabin"/>
                </a:rPr>
                <a:t>(bắc, đông bắc, đông, đông nam, nam, tây nam, tây, và tây bắc)</a:t>
              </a:r>
              <a:r>
                <a:rPr lang="en-US" sz="3999">
                  <a:solidFill>
                    <a:srgbClr val="000000"/>
                  </a:solidFill>
                  <a:latin typeface="Cabin"/>
                  <a:ea typeface="Cabin"/>
                  <a:cs typeface="Cabin"/>
                  <a:sym typeface="Cabin"/>
                </a:rPr>
                <a:t>.</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880233"/>
            <a:chOff x="0" y="0"/>
            <a:chExt cx="5999270" cy="2509928"/>
          </a:xfrm>
        </p:grpSpPr>
        <p:sp>
          <p:nvSpPr>
            <p:cNvPr name="Freeform 6" id="6"/>
            <p:cNvSpPr/>
            <p:nvPr/>
          </p:nvSpPr>
          <p:spPr>
            <a:xfrm flipH="false" flipV="false" rot="0">
              <a:off x="0" y="0"/>
              <a:ext cx="5999270" cy="2509928"/>
            </a:xfrm>
            <a:custGeom>
              <a:avLst/>
              <a:gdLst/>
              <a:ahLst/>
              <a:cxnLst/>
              <a:rect r="r" b="b" t="t" l="l"/>
              <a:pathLst>
                <a:path h="2509928" w="5999270">
                  <a:moveTo>
                    <a:pt x="0" y="0"/>
                  </a:moveTo>
                  <a:lnTo>
                    <a:pt x="5999270" y="0"/>
                  </a:lnTo>
                  <a:lnTo>
                    <a:pt x="5999270" y="2509928"/>
                  </a:lnTo>
                  <a:lnTo>
                    <a:pt x="0" y="250992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4843679"/>
            <a:chOff x="0" y="0"/>
            <a:chExt cx="19873832" cy="6458239"/>
          </a:xfrm>
        </p:grpSpPr>
        <p:sp>
          <p:nvSpPr>
            <p:cNvPr name="TextBox 15" id="15"/>
            <p:cNvSpPr txBox="true"/>
            <p:nvPr/>
          </p:nvSpPr>
          <p:spPr>
            <a:xfrm rot="0">
              <a:off x="0" y="1230071"/>
              <a:ext cx="19873832" cy="52281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Các bước chuyển trạng thái (Transitions</a:t>
              </a:r>
              <a:r>
                <a:rPr lang="en-US" b="true" sz="3999">
                  <a:solidFill>
                    <a:srgbClr val="003EA8"/>
                  </a:solidFill>
                  <a:latin typeface="Cabin Bold"/>
                  <a:ea typeface="Cabin Bold"/>
                  <a:cs typeface="Cabin Bold"/>
                  <a:sym typeface="Cabin Bold"/>
                </a:rPr>
                <a:t>):</a:t>
              </a:r>
            </a:p>
            <a:p>
              <a:pPr algn="l" marL="863590" indent="-431795" lvl="1">
                <a:lnSpc>
                  <a:spcPts val="5199"/>
                </a:lnSpc>
                <a:buFont typeface="Arial"/>
                <a:buChar char="•"/>
              </a:pPr>
              <a:r>
                <a:rPr lang="en-US" b="true" sz="3999">
                  <a:solidFill>
                    <a:srgbClr val="003EA8"/>
                  </a:solidFill>
                  <a:latin typeface="Cabin Bold"/>
                  <a:ea typeface="Cabin Bold"/>
                  <a:cs typeface="Cabin Bold"/>
                  <a:sym typeface="Cabin Bold"/>
                </a:rPr>
                <a:t>Cập nhật: </a:t>
              </a:r>
              <a:r>
                <a:rPr lang="en-US" sz="3999">
                  <a:solidFill>
                    <a:srgbClr val="000000"/>
                  </a:solidFill>
                  <a:latin typeface="Cabin"/>
                  <a:ea typeface="Cabin"/>
                  <a:cs typeface="Cabin"/>
                  <a:sym typeface="Cabin"/>
                </a:rPr>
                <a:t>Nếu vị trí mới thỏa mãn các ràng buộc trên, thực hiện bước chuyển (tức đặt lều vào vị trí đó và chuyển sang cây kế tiếp).</a:t>
              </a:r>
            </a:p>
            <a:p>
              <a:pPr algn="l" marL="863590" indent="-431795" lvl="1">
                <a:lnSpc>
                  <a:spcPts val="5199"/>
                </a:lnSpc>
                <a:buFont typeface="Arial"/>
                <a:buChar char="•"/>
              </a:pPr>
              <a:r>
                <a:rPr lang="en-US" b="true" sz="3999">
                  <a:solidFill>
                    <a:srgbClr val="003EA8"/>
                  </a:solidFill>
                  <a:latin typeface="Cabin Bold"/>
                  <a:ea typeface="Cabin Bold"/>
                  <a:cs typeface="Cabin Bold"/>
                  <a:sym typeface="Cabin Bold"/>
                </a:rPr>
                <a:t>Quay lui: </a:t>
              </a:r>
              <a:r>
                <a:rPr lang="en-US" sz="3999">
                  <a:solidFill>
                    <a:srgbClr val="000000"/>
                  </a:solidFill>
                  <a:latin typeface="Cabin"/>
                  <a:ea typeface="Cabin"/>
                  <a:cs typeface="Cabin"/>
                  <a:sym typeface="Cabin"/>
                </a:rPr>
                <a:t>Nếu k</a:t>
              </a:r>
              <a:r>
                <a:rPr lang="en-US" sz="3999">
                  <a:solidFill>
                    <a:srgbClr val="000000"/>
                  </a:solidFill>
                  <a:latin typeface="Cabin"/>
                  <a:ea typeface="Cabin"/>
                  <a:cs typeface="Cabin"/>
                  <a:sym typeface="Cabin"/>
                </a:rPr>
                <a:t>hông tìm được vị trí hợp lệ để đặt lều cho cây kế tiếp, thuật toán sẽ quay lại cây trước đó, loại bỏ lều đã đặt và thử hướng khác.</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3143906"/>
            <a:ext cx="16445245" cy="3999188"/>
            <a:chOff x="0" y="0"/>
            <a:chExt cx="5999270" cy="1458915"/>
          </a:xfrm>
        </p:grpSpPr>
        <p:sp>
          <p:nvSpPr>
            <p:cNvPr name="Freeform 4" id="4"/>
            <p:cNvSpPr/>
            <p:nvPr/>
          </p:nvSpPr>
          <p:spPr>
            <a:xfrm flipH="false" flipV="false" rot="0">
              <a:off x="0" y="0"/>
              <a:ext cx="5999270" cy="1458915"/>
            </a:xfrm>
            <a:custGeom>
              <a:avLst/>
              <a:gdLst/>
              <a:ahLst/>
              <a:cxnLst/>
              <a:rect r="r" b="b" t="t" l="l"/>
              <a:pathLst>
                <a:path h="1458915" w="5999270">
                  <a:moveTo>
                    <a:pt x="0" y="0"/>
                  </a:moveTo>
                  <a:lnTo>
                    <a:pt x="5999270" y="0"/>
                  </a:lnTo>
                  <a:lnTo>
                    <a:pt x="5999270" y="1458915"/>
                  </a:lnTo>
                  <a:lnTo>
                    <a:pt x="0" y="1458915"/>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9" id="9"/>
          <p:cNvSpPr txBox="true"/>
          <p:nvPr/>
        </p:nvSpPr>
        <p:spPr>
          <a:xfrm rot="0">
            <a:off x="2055575" y="4457700"/>
            <a:ext cx="14176850"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
        <p:nvSpPr>
          <p:cNvPr name="Freeform 10" id="10"/>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880233"/>
            <a:chOff x="0" y="0"/>
            <a:chExt cx="5999270" cy="2509928"/>
          </a:xfrm>
        </p:grpSpPr>
        <p:sp>
          <p:nvSpPr>
            <p:cNvPr name="Freeform 6" id="6"/>
            <p:cNvSpPr/>
            <p:nvPr/>
          </p:nvSpPr>
          <p:spPr>
            <a:xfrm flipH="false" flipV="false" rot="0">
              <a:off x="0" y="0"/>
              <a:ext cx="5999270" cy="2509928"/>
            </a:xfrm>
            <a:custGeom>
              <a:avLst/>
              <a:gdLst/>
              <a:ahLst/>
              <a:cxnLst/>
              <a:rect r="r" b="b" t="t" l="l"/>
              <a:pathLst>
                <a:path h="2509928" w="5999270">
                  <a:moveTo>
                    <a:pt x="0" y="0"/>
                  </a:moveTo>
                  <a:lnTo>
                    <a:pt x="5999270" y="0"/>
                  </a:lnTo>
                  <a:lnTo>
                    <a:pt x="5999270" y="2509928"/>
                  </a:lnTo>
                  <a:lnTo>
                    <a:pt x="0" y="250992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691313" y="2915205"/>
            <a:ext cx="14905374" cy="6810909"/>
            <a:chOff x="0" y="0"/>
            <a:chExt cx="19873832" cy="9081212"/>
          </a:xfrm>
        </p:grpSpPr>
        <p:sp>
          <p:nvSpPr>
            <p:cNvPr name="TextBox 14" id="14"/>
            <p:cNvSpPr txBox="true"/>
            <p:nvPr/>
          </p:nvSpPr>
          <p:spPr>
            <a:xfrm rot="0">
              <a:off x="0" y="1230071"/>
              <a:ext cx="19873832" cy="78511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Giải thuật thực hiện lần lượt </a:t>
              </a:r>
              <a:r>
                <a:rPr lang="en-US" sz="3599">
                  <a:solidFill>
                    <a:srgbClr val="003EA8"/>
                  </a:solidFill>
                  <a:latin typeface="Cabin"/>
                  <a:ea typeface="Cabin"/>
                  <a:cs typeface="Cabin"/>
                  <a:sym typeface="Cabin"/>
                </a:rPr>
                <a:t>đặt lều vào các ô trống</a:t>
              </a:r>
              <a:r>
                <a:rPr lang="en-US" sz="3599">
                  <a:solidFill>
                    <a:srgbClr val="000000"/>
                  </a:solidFill>
                  <a:latin typeface="Cabin"/>
                  <a:ea typeface="Cabin"/>
                  <a:cs typeface="Cabin"/>
                  <a:sym typeface="Cabin"/>
                </a:rPr>
                <a:t>. Trước khi đặt, thuật toán </a:t>
              </a:r>
              <a:r>
                <a:rPr lang="en-US" sz="3599">
                  <a:solidFill>
                    <a:srgbClr val="003EA8"/>
                  </a:solidFill>
                  <a:latin typeface="Cabin"/>
                  <a:ea typeface="Cabin"/>
                  <a:cs typeface="Cabin"/>
                  <a:sym typeface="Cabin"/>
                </a:rPr>
                <a:t>tìm và sắp xế</a:t>
              </a:r>
              <a:r>
                <a:rPr lang="en-US" sz="3599">
                  <a:solidFill>
                    <a:srgbClr val="003EA8"/>
                  </a:solidFill>
                  <a:latin typeface="Cabin"/>
                  <a:ea typeface="Cabin"/>
                  <a:cs typeface="Cabin"/>
                  <a:sym typeface="Cabin"/>
                </a:rPr>
                <a:t>p các ô có thể đặt lều</a:t>
              </a:r>
              <a:r>
                <a:rPr lang="en-US" sz="3599">
                  <a:solidFill>
                    <a:srgbClr val="000000"/>
                  </a:solidFill>
                  <a:latin typeface="Cabin"/>
                  <a:ea typeface="Cabin"/>
                  <a:cs typeface="Cabin"/>
                  <a:sym typeface="Cabin"/>
                </a:rPr>
                <a:t> vào một danh sách, theo thứ tự </a:t>
              </a:r>
              <a:r>
                <a:rPr lang="en-US" sz="3599">
                  <a:solidFill>
                    <a:srgbClr val="003EA8"/>
                  </a:solidFill>
                  <a:latin typeface="Cabin"/>
                  <a:ea typeface="Cabin"/>
                  <a:cs typeface="Cabin"/>
                  <a:sym typeface="Cabin"/>
                </a:rPr>
                <a:t>từ trên xuống và từ trái qua</a:t>
              </a:r>
              <a:r>
                <a:rPr lang="en-US" sz="3599">
                  <a:solidFill>
                    <a:srgbClr val="000000"/>
                  </a:solidFill>
                  <a:latin typeface="Cabin"/>
                  <a:ea typeface="Cabin"/>
                  <a:cs typeface="Cabin"/>
                  <a:sym typeface="Cabin"/>
                </a:rPr>
                <a:t>, gồm các </a:t>
              </a:r>
              <a:r>
                <a:rPr lang="en-US" sz="3599">
                  <a:solidFill>
                    <a:srgbClr val="003EA8"/>
                  </a:solidFill>
                  <a:latin typeface="Cabin"/>
                  <a:ea typeface="Cabin"/>
                  <a:cs typeface="Cabin"/>
                  <a:sym typeface="Cabin"/>
                </a:rPr>
                <a:t>ô nằm cạnh các cây</a:t>
              </a:r>
              <a:r>
                <a:rPr lang="en-US" sz="3599">
                  <a:solidFill>
                    <a:srgbClr val="000000"/>
                  </a:solidFill>
                  <a:latin typeface="Cabin"/>
                  <a:ea typeface="Cabin"/>
                  <a:cs typeface="Cabin"/>
                  <a:sym typeface="Cabin"/>
                </a:rPr>
                <a:t> và các </a:t>
              </a:r>
              <a:r>
                <a:rPr lang="en-US" sz="3599">
                  <a:solidFill>
                    <a:srgbClr val="003EA8"/>
                  </a:solidFill>
                  <a:latin typeface="Cabin"/>
                  <a:ea typeface="Cabin"/>
                  <a:cs typeface="Cabin"/>
                  <a:sym typeface="Cabin"/>
                </a:rPr>
                <a:t>ô có các row hint và column hint khác 0</a:t>
              </a:r>
              <a:r>
                <a:rPr lang="en-US" sz="3599">
                  <a:solidFill>
                    <a:srgbClr val="000000"/>
                  </a:solidFill>
                  <a:latin typeface="Cabin"/>
                  <a:ea typeface="Cabin"/>
                  <a:cs typeface="Cabin"/>
                  <a:sym typeface="Cabin"/>
                </a:rPr>
                <a:t>.</a:t>
              </a:r>
            </a:p>
            <a:p>
              <a:pPr algn="just" marL="777232" indent="-388616" lvl="1">
                <a:lnSpc>
                  <a:spcPts val="4679"/>
                </a:lnSpc>
                <a:buFont typeface="Arial"/>
                <a:buChar char="•"/>
              </a:pPr>
              <a:r>
                <a:rPr lang="en-US" sz="3599">
                  <a:solidFill>
                    <a:srgbClr val="000000"/>
                  </a:solidFill>
                  <a:latin typeface="Cabin"/>
                  <a:ea typeface="Cabin"/>
                  <a:cs typeface="Cabin"/>
                  <a:sym typeface="Cabin"/>
                </a:rPr>
                <a:t>Bài toán lần lượt </a:t>
              </a:r>
              <a:r>
                <a:rPr lang="en-US" sz="3599">
                  <a:solidFill>
                    <a:srgbClr val="003EA8"/>
                  </a:solidFill>
                  <a:latin typeface="Cabin"/>
                  <a:ea typeface="Cabin"/>
                  <a:cs typeface="Cabin"/>
                  <a:sym typeface="Cabin"/>
                </a:rPr>
                <a:t>đặt lều theo danh sách trên</a:t>
              </a:r>
              <a:r>
                <a:rPr lang="en-US" sz="3599">
                  <a:solidFill>
                    <a:srgbClr val="000000"/>
                  </a:solidFill>
                  <a:latin typeface="Cabin"/>
                  <a:ea typeface="Cabin"/>
                  <a:cs typeface="Cabin"/>
                  <a:sym typeface="Cabin"/>
                </a:rPr>
                <a:t>, </a:t>
              </a:r>
              <a:r>
                <a:rPr lang="en-US" sz="3599">
                  <a:solidFill>
                    <a:srgbClr val="003EA8"/>
                  </a:solidFill>
                  <a:latin typeface="Cabin"/>
                  <a:ea typeface="Cabin"/>
                  <a:cs typeface="Cabin"/>
                  <a:sym typeface="Cabin"/>
                </a:rPr>
                <a:t>loại bỏ các ô xung quanh lều</a:t>
              </a:r>
              <a:r>
                <a:rPr lang="en-US" sz="3599">
                  <a:solidFill>
                    <a:srgbClr val="000000"/>
                  </a:solidFill>
                  <a:latin typeface="Cabin"/>
                  <a:ea typeface="Cabin"/>
                  <a:cs typeface="Cabin"/>
                  <a:sym typeface="Cabin"/>
                </a:rPr>
                <a:t>. Khi lều được đặt, thuật toán thực hiện </a:t>
              </a:r>
              <a:r>
                <a:rPr lang="en-US" sz="3599">
                  <a:solidFill>
                    <a:srgbClr val="003EA8"/>
                  </a:solidFill>
                  <a:latin typeface="Cabin"/>
                  <a:ea typeface="Cabin"/>
                  <a:cs typeface="Cabin"/>
                  <a:sym typeface="Cabin"/>
                </a:rPr>
                <a:t>gọi đệ quy để kiểm tra vị trí tiếp theo</a:t>
              </a:r>
              <a:r>
                <a:rPr lang="en-US" sz="3599">
                  <a:solidFill>
                    <a:srgbClr val="000000"/>
                  </a:solidFill>
                  <a:latin typeface="Cabin"/>
                  <a:ea typeface="Cabin"/>
                  <a:cs typeface="Cabin"/>
                  <a:sym typeface="Cabin"/>
                </a:rPr>
                <a:t>.</a:t>
              </a:r>
            </a:p>
            <a:p>
              <a:pPr algn="just" marL="777232" indent="-388616" lvl="1">
                <a:lnSpc>
                  <a:spcPts val="4679"/>
                </a:lnSpc>
                <a:buFont typeface="Arial"/>
                <a:buChar char="•"/>
              </a:pPr>
              <a:r>
                <a:rPr lang="en-US" sz="3599">
                  <a:solidFill>
                    <a:srgbClr val="000000"/>
                  </a:solidFill>
                  <a:latin typeface="Cabin"/>
                  <a:ea typeface="Cabin"/>
                  <a:cs typeface="Cabin"/>
                  <a:sym typeface="Cabin"/>
                </a:rPr>
                <a:t>Khi </a:t>
              </a:r>
              <a:r>
                <a:rPr lang="en-US" sz="3599">
                  <a:solidFill>
                    <a:srgbClr val="003EA8"/>
                  </a:solidFill>
                  <a:latin typeface="Cabin"/>
                  <a:ea typeface="Cabin"/>
                  <a:cs typeface="Cabin"/>
                  <a:sym typeface="Cabin"/>
                </a:rPr>
                <a:t>xuống một hàng mới</a:t>
              </a:r>
              <a:r>
                <a:rPr lang="en-US" sz="3599">
                  <a:solidFill>
                    <a:srgbClr val="000000"/>
                  </a:solidFill>
                  <a:latin typeface="Cabin"/>
                  <a:ea typeface="Cabin"/>
                  <a:cs typeface="Cabin"/>
                  <a:sym typeface="Cabin"/>
                </a:rPr>
                <a:t>, thuật toán k</a:t>
              </a:r>
              <a:r>
                <a:rPr lang="en-US" sz="3599">
                  <a:solidFill>
                    <a:srgbClr val="003EA8"/>
                  </a:solidFill>
                  <a:latin typeface="Cabin"/>
                  <a:ea typeface="Cabin"/>
                  <a:cs typeface="Cabin"/>
                  <a:sym typeface="Cabin"/>
                </a:rPr>
                <a:t>iểm tra ràng buộc các hàng bên trên</a:t>
              </a:r>
              <a:r>
                <a:rPr lang="en-US" sz="3599">
                  <a:solidFill>
                    <a:srgbClr val="000000"/>
                  </a:solidFill>
                  <a:latin typeface="Cabin"/>
                  <a:ea typeface="Cabin"/>
                  <a:cs typeface="Cabin"/>
                  <a:sym typeface="Cabin"/>
                </a:rPr>
                <a:t>, nếu </a:t>
              </a:r>
              <a:r>
                <a:rPr lang="en-US" sz="3599">
                  <a:solidFill>
                    <a:srgbClr val="003EA8"/>
                  </a:solidFill>
                  <a:latin typeface="Cabin"/>
                  <a:ea typeface="Cabin"/>
                  <a:cs typeface="Cabin"/>
                  <a:sym typeface="Cabin"/>
                </a:rPr>
                <a:t>số lều trên hàng bị thiếu</a:t>
              </a:r>
              <a:r>
                <a:rPr lang="en-US" sz="3599">
                  <a:solidFill>
                    <a:srgbClr val="000000"/>
                  </a:solidFill>
                  <a:latin typeface="Cabin"/>
                  <a:ea typeface="Cabin"/>
                  <a:cs typeface="Cabin"/>
                  <a:sym typeface="Cabin"/>
                </a:rPr>
                <a:t>, thuật toán </a:t>
              </a:r>
              <a:r>
                <a:rPr lang="en-US" sz="3599">
                  <a:solidFill>
                    <a:srgbClr val="003EA8"/>
                  </a:solidFill>
                  <a:latin typeface="Cabin"/>
                  <a:ea typeface="Cabin"/>
                  <a:cs typeface="Cabin"/>
                  <a:sym typeface="Cabin"/>
                </a:rPr>
                <a:t>quay về về các hàng trước đó</a:t>
              </a:r>
              <a:r>
                <a:rPr lang="en-US" sz="3599">
                  <a:solidFill>
                    <a:srgbClr val="000000"/>
                  </a:solidFill>
                  <a:latin typeface="Cabin"/>
                  <a:ea typeface="Cabin"/>
                  <a:cs typeface="Cabin"/>
                  <a:sym typeface="Cabin"/>
                </a:rPr>
                <a:t>.</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Ý tưởng</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343095"/>
            <a:chOff x="0" y="0"/>
            <a:chExt cx="5999270" cy="2313978"/>
          </a:xfrm>
        </p:grpSpPr>
        <p:sp>
          <p:nvSpPr>
            <p:cNvPr name="Freeform 6" id="6"/>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4186454"/>
            <a:chOff x="0" y="0"/>
            <a:chExt cx="19873832" cy="5581939"/>
          </a:xfrm>
        </p:grpSpPr>
        <p:sp>
          <p:nvSpPr>
            <p:cNvPr name="TextBox 14" id="14"/>
            <p:cNvSpPr txBox="true"/>
            <p:nvPr/>
          </p:nvSpPr>
          <p:spPr>
            <a:xfrm rot="0">
              <a:off x="0" y="1230071"/>
              <a:ext cx="19873832" cy="43518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tổng quát (Global</a:t>
              </a:r>
              <a:r>
                <a:rPr lang="en-US" b="true" sz="3999">
                  <a:solidFill>
                    <a:srgbClr val="003EA8"/>
                  </a:solidFill>
                  <a:latin typeface="Cabin Bold"/>
                  <a:ea typeface="Cabin Bold"/>
                  <a:cs typeface="Cabin Bold"/>
                  <a:sym typeface="Cabin Bold"/>
                </a:rPr>
                <a:t> State):</a:t>
              </a:r>
            </a:p>
            <a:p>
              <a:pPr algn="just" marL="863590" indent="-431795" lvl="1">
                <a:lnSpc>
                  <a:spcPts val="5199"/>
                </a:lnSpc>
                <a:buFont typeface="Arial"/>
                <a:buChar char="•"/>
              </a:pPr>
              <a:r>
                <a:rPr lang="en-US" sz="3999">
                  <a:solidFill>
                    <a:srgbClr val="003EA8"/>
                  </a:solidFill>
                  <a:latin typeface="Cabin"/>
                  <a:ea typeface="Cabin"/>
                  <a:cs typeface="Cabin"/>
                  <a:sym typeface="Cabin"/>
                </a:rPr>
                <a:t>Thành phần cố định:</a:t>
              </a:r>
            </a:p>
            <a:p>
              <a:pPr algn="l" marL="1727179" indent="-575726" lvl="2">
                <a:lnSpc>
                  <a:spcPts val="5199"/>
                </a:lnSpc>
                <a:buFont typeface="Arial"/>
                <a:buChar char="⚬"/>
              </a:pPr>
              <a:r>
                <a:rPr lang="en-US" sz="3999">
                  <a:solidFill>
                    <a:srgbClr val="000000"/>
                  </a:solidFill>
                  <a:latin typeface="Cabin"/>
                  <a:ea typeface="Cabin"/>
                  <a:cs typeface="Cabin"/>
                  <a:sym typeface="Cabin"/>
                </a:rPr>
                <a:t>Tọa độ của các cây [(hàng,cột),...].</a:t>
              </a:r>
            </a:p>
            <a:p>
              <a:pPr algn="l" marL="1727179" indent="-575726" lvl="2">
                <a:lnSpc>
                  <a:spcPts val="5199"/>
                </a:lnSpc>
                <a:buFont typeface="Arial"/>
                <a:buChar char="⚬"/>
              </a:pPr>
              <a:r>
                <a:rPr lang="en-US" sz="3999">
                  <a:solidFill>
                    <a:srgbClr val="000000"/>
                  </a:solidFill>
                  <a:latin typeface="Cabin"/>
                  <a:ea typeface="Cabin"/>
                  <a:cs typeface="Cabin"/>
                  <a:sym typeface="Cabin"/>
                </a:rPr>
                <a:t>Gợi ý số lượng lều ở mỗi hàng và mỗi cột.</a:t>
              </a:r>
            </a:p>
            <a:p>
              <a:pPr algn="l" marL="1727179" indent="-575726" lvl="2">
                <a:lnSpc>
                  <a:spcPts val="5199"/>
                </a:lnSpc>
                <a:buFont typeface="Arial"/>
                <a:buChar char="⚬"/>
              </a:pPr>
              <a:r>
                <a:rPr lang="en-US" sz="3999">
                  <a:solidFill>
                    <a:srgbClr val="000000"/>
                  </a:solidFill>
                  <a:latin typeface="Cabin"/>
                  <a:ea typeface="Cabin"/>
                  <a:cs typeface="Cabin"/>
                  <a:sym typeface="Cabin"/>
                </a:rPr>
                <a:t>Danh sách các vị trí có thể đặt lều.</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781633"/>
            <a:chOff x="0" y="0"/>
            <a:chExt cx="5999270" cy="2473958"/>
          </a:xfrm>
        </p:grpSpPr>
        <p:sp>
          <p:nvSpPr>
            <p:cNvPr name="Freeform 6" id="6"/>
            <p:cNvSpPr/>
            <p:nvPr/>
          </p:nvSpPr>
          <p:spPr>
            <a:xfrm flipH="false" flipV="false" rot="0">
              <a:off x="0" y="0"/>
              <a:ext cx="5999270" cy="2473958"/>
            </a:xfrm>
            <a:custGeom>
              <a:avLst/>
              <a:gdLst/>
              <a:ahLst/>
              <a:cxnLst/>
              <a:rect r="r" b="b" t="t" l="l"/>
              <a:pathLst>
                <a:path h="2473958" w="5999270">
                  <a:moveTo>
                    <a:pt x="0" y="0"/>
                  </a:moveTo>
                  <a:lnTo>
                    <a:pt x="5999270" y="0"/>
                  </a:lnTo>
                  <a:lnTo>
                    <a:pt x="5999270" y="2473958"/>
                  </a:lnTo>
                  <a:lnTo>
                    <a:pt x="0" y="247395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6284494"/>
            <a:chOff x="0" y="0"/>
            <a:chExt cx="19873832" cy="8379325"/>
          </a:xfrm>
        </p:grpSpPr>
        <p:sp>
          <p:nvSpPr>
            <p:cNvPr name="TextBox 14" id="14"/>
            <p:cNvSpPr txBox="true"/>
            <p:nvPr/>
          </p:nvSpPr>
          <p:spPr>
            <a:xfrm rot="0">
              <a:off x="0" y="1230071"/>
              <a:ext cx="19873832" cy="7149254"/>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tổng quát (Global</a:t>
              </a:r>
              <a:r>
                <a:rPr lang="en-US" b="true" sz="3999">
                  <a:solidFill>
                    <a:srgbClr val="003EA8"/>
                  </a:solidFill>
                  <a:latin typeface="Cabin Bold"/>
                  <a:ea typeface="Cabin Bold"/>
                  <a:cs typeface="Cabin Bold"/>
                  <a:sym typeface="Cabin Bold"/>
                </a:rPr>
                <a:t> State):</a:t>
              </a:r>
            </a:p>
            <a:p>
              <a:pPr algn="l" marL="777232" indent="-388616" lvl="1">
                <a:lnSpc>
                  <a:spcPts val="4679"/>
                </a:lnSpc>
                <a:buFont typeface="Arial"/>
                <a:buChar char="•"/>
              </a:pPr>
              <a:r>
                <a:rPr lang="en-US" sz="3599">
                  <a:solidFill>
                    <a:srgbClr val="003EA8"/>
                  </a:solidFill>
                  <a:latin typeface="Cabin"/>
                  <a:ea typeface="Cabin"/>
                  <a:cs typeface="Cabin"/>
                  <a:sym typeface="Cabin"/>
                </a:rPr>
                <a:t>Thành phần thay đổi:</a:t>
              </a:r>
            </a:p>
            <a:p>
              <a:pPr algn="l" marL="1554464" indent="-518155" lvl="2">
                <a:lnSpc>
                  <a:spcPts val="4679"/>
                </a:lnSpc>
                <a:buFont typeface="Arial"/>
                <a:buChar char="⚬"/>
              </a:pPr>
              <a:r>
                <a:rPr lang="en-US" sz="3599">
                  <a:solidFill>
                    <a:srgbClr val="000000"/>
                  </a:solidFill>
                  <a:latin typeface="Cabin"/>
                  <a:ea typeface="Cabin"/>
                  <a:cs typeface="Cabin"/>
                  <a:sym typeface="Cabin"/>
                </a:rPr>
                <a:t>Ma trận 2D chứa các cây và các lều. Mỗi ô có một trong các giá trị </a:t>
              </a:r>
              <a:r>
                <a:rPr lang="en-US" b="true" sz="3599">
                  <a:solidFill>
                    <a:srgbClr val="003EA8"/>
                  </a:solidFill>
                  <a:latin typeface="Cabin Bold"/>
                  <a:ea typeface="Cabin Bold"/>
                  <a:cs typeface="Cabin Bold"/>
                  <a:sym typeface="Cabin Bold"/>
                </a:rPr>
                <a:t>EMPTY</a:t>
              </a:r>
              <a:r>
                <a:rPr lang="en-US" sz="3599">
                  <a:solidFill>
                    <a:srgbClr val="000000"/>
                  </a:solidFill>
                  <a:latin typeface="Cabin"/>
                  <a:ea typeface="Cabin"/>
                  <a:cs typeface="Cabin"/>
                  <a:sym typeface="Cabin"/>
                </a:rPr>
                <a:t> (trống, có thể đặt), </a:t>
              </a:r>
              <a:r>
                <a:rPr lang="en-US" b="true" sz="3599">
                  <a:solidFill>
                    <a:srgbClr val="003EA8"/>
                  </a:solidFill>
                  <a:latin typeface="Cabin Bold"/>
                  <a:ea typeface="Cabin Bold"/>
                  <a:cs typeface="Cabin Bold"/>
                  <a:sym typeface="Cabin Bold"/>
                </a:rPr>
                <a:t>CANTPLACE</a:t>
              </a:r>
              <a:r>
                <a:rPr lang="en-US" sz="3599">
                  <a:solidFill>
                    <a:srgbClr val="000000"/>
                  </a:solidFill>
                  <a:latin typeface="Cabin"/>
                  <a:ea typeface="Cabin"/>
                  <a:cs typeface="Cabin"/>
                  <a:sym typeface="Cabin"/>
                </a:rPr>
                <a:t> (không thể đặt), </a:t>
              </a:r>
              <a:r>
                <a:rPr lang="en-US" b="true" sz="3599">
                  <a:solidFill>
                    <a:srgbClr val="003EA8"/>
                  </a:solidFill>
                  <a:latin typeface="Cabin Bold"/>
                  <a:ea typeface="Cabin Bold"/>
                  <a:cs typeface="Cabin Bold"/>
                  <a:sym typeface="Cabin Bold"/>
                </a:rPr>
                <a:t>TENT</a:t>
              </a:r>
              <a:r>
                <a:rPr lang="en-US" sz="3599">
                  <a:solidFill>
                    <a:srgbClr val="000000"/>
                  </a:solidFill>
                  <a:latin typeface="Cabin"/>
                  <a:ea typeface="Cabin"/>
                  <a:cs typeface="Cabin"/>
                  <a:sym typeface="Cabin"/>
                </a:rPr>
                <a:t> (lều), </a:t>
              </a:r>
              <a:r>
                <a:rPr lang="en-US" b="true" sz="3599">
                  <a:solidFill>
                    <a:srgbClr val="003EA8"/>
                  </a:solidFill>
                  <a:latin typeface="Cabin Bold"/>
                  <a:ea typeface="Cabin Bold"/>
                  <a:cs typeface="Cabin Bold"/>
                  <a:sym typeface="Cabin Bold"/>
                </a:rPr>
                <a:t>TREE</a:t>
              </a:r>
              <a:r>
                <a:rPr lang="en-US" sz="3599">
                  <a:solidFill>
                    <a:srgbClr val="000000"/>
                  </a:solidFill>
                  <a:latin typeface="Cabin"/>
                  <a:ea typeface="Cabin"/>
                  <a:cs typeface="Cabin"/>
                  <a:sym typeface="Cabin"/>
                </a:rPr>
                <a:t> (cây).</a:t>
              </a:r>
            </a:p>
            <a:p>
              <a:pPr algn="l" marL="1554464" indent="-518155" lvl="2">
                <a:lnSpc>
                  <a:spcPts val="4679"/>
                </a:lnSpc>
                <a:buFont typeface="Arial"/>
                <a:buChar char="⚬"/>
              </a:pPr>
              <a:r>
                <a:rPr lang="en-US" sz="3599">
                  <a:solidFill>
                    <a:srgbClr val="000000"/>
                  </a:solidFill>
                  <a:latin typeface="Cabin"/>
                  <a:ea typeface="Cabin"/>
                  <a:cs typeface="Cabin"/>
                  <a:sym typeface="Cabin"/>
                </a:rPr>
                <a:t>Mảng chứa số lượng lều đang có trong mỗi cột.</a:t>
              </a:r>
            </a:p>
            <a:p>
              <a:pPr algn="l" marL="1554464" indent="-518155" lvl="2">
                <a:lnSpc>
                  <a:spcPts val="4679"/>
                </a:lnSpc>
                <a:buFont typeface="Arial"/>
                <a:buChar char="⚬"/>
              </a:pPr>
              <a:r>
                <a:rPr lang="en-US" sz="3599">
                  <a:solidFill>
                    <a:srgbClr val="000000"/>
                  </a:solidFill>
                  <a:latin typeface="Cabin"/>
                  <a:ea typeface="Cabin"/>
                  <a:cs typeface="Cabin"/>
                  <a:sym typeface="Cabin"/>
                </a:rPr>
                <a:t>Mảng chứa số lượng lều đang có trong mỗi hàng.</a:t>
              </a:r>
            </a:p>
            <a:p>
              <a:pPr algn="l" marL="1554464" indent="-518155" lvl="2">
                <a:lnSpc>
                  <a:spcPts val="4679"/>
                </a:lnSpc>
                <a:buFont typeface="Arial"/>
                <a:buChar char="⚬"/>
              </a:pPr>
              <a:r>
                <a:rPr lang="en-US" sz="3599">
                  <a:solidFill>
                    <a:srgbClr val="000000"/>
                  </a:solidFill>
                  <a:latin typeface="Cabin"/>
                  <a:ea typeface="Cabin"/>
                  <a:cs typeface="Cabin"/>
                  <a:sym typeface="Cabin"/>
                </a:rPr>
                <a:t>Vị trí đặt lều.</a:t>
              </a:r>
            </a:p>
            <a:p>
              <a:pPr algn="l" marL="1554464" indent="-518155" lvl="2">
                <a:lnSpc>
                  <a:spcPts val="4679"/>
                </a:lnSpc>
                <a:buFont typeface="Arial"/>
                <a:buChar char="⚬"/>
              </a:pPr>
              <a:r>
                <a:rPr lang="en-US" sz="3599">
                  <a:solidFill>
                    <a:srgbClr val="000000"/>
                  </a:solidFill>
                  <a:latin typeface="Cabin"/>
                  <a:ea typeface="Cabin"/>
                  <a:cs typeface="Cabin"/>
                  <a:sym typeface="Cabin"/>
                </a:rPr>
                <a:t>Lịch sử đặt lều.</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781633"/>
            <a:chOff x="0" y="0"/>
            <a:chExt cx="5999270" cy="2473958"/>
          </a:xfrm>
        </p:grpSpPr>
        <p:sp>
          <p:nvSpPr>
            <p:cNvPr name="Freeform 6" id="6"/>
            <p:cNvSpPr/>
            <p:nvPr/>
          </p:nvSpPr>
          <p:spPr>
            <a:xfrm flipH="false" flipV="false" rot="0">
              <a:off x="0" y="0"/>
              <a:ext cx="5999270" cy="2473958"/>
            </a:xfrm>
            <a:custGeom>
              <a:avLst/>
              <a:gdLst/>
              <a:ahLst/>
              <a:cxnLst/>
              <a:rect r="r" b="b" t="t" l="l"/>
              <a:pathLst>
                <a:path h="2473958" w="5999270">
                  <a:moveTo>
                    <a:pt x="0" y="0"/>
                  </a:moveTo>
                  <a:lnTo>
                    <a:pt x="5999270" y="0"/>
                  </a:lnTo>
                  <a:lnTo>
                    <a:pt x="5999270" y="2473958"/>
                  </a:lnTo>
                  <a:lnTo>
                    <a:pt x="0" y="247395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4843679"/>
            <a:chOff x="0" y="0"/>
            <a:chExt cx="19873832" cy="6458239"/>
          </a:xfrm>
        </p:grpSpPr>
        <p:sp>
          <p:nvSpPr>
            <p:cNvPr name="TextBox 14" id="14"/>
            <p:cNvSpPr txBox="true"/>
            <p:nvPr/>
          </p:nvSpPr>
          <p:spPr>
            <a:xfrm rot="0">
              <a:off x="0" y="1230071"/>
              <a:ext cx="19873832" cy="52281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tổng quát (Global</a:t>
              </a:r>
              <a:r>
                <a:rPr lang="en-US" b="true" sz="3999">
                  <a:solidFill>
                    <a:srgbClr val="003EA8"/>
                  </a:solidFill>
                  <a:latin typeface="Cabin Bold"/>
                  <a:ea typeface="Cabin Bold"/>
                  <a:cs typeface="Cabin Bold"/>
                  <a:sym typeface="Cabin Bold"/>
                </a:rPr>
                <a:t> State):</a:t>
              </a:r>
            </a:p>
            <a:p>
              <a:pPr algn="l" marL="863590" indent="-431795" lvl="1">
                <a:lnSpc>
                  <a:spcPts val="5199"/>
                </a:lnSpc>
                <a:buFont typeface="Arial"/>
                <a:buChar char="•"/>
              </a:pPr>
              <a:r>
                <a:rPr lang="en-US" sz="3999">
                  <a:solidFill>
                    <a:srgbClr val="003EA8"/>
                  </a:solidFill>
                  <a:latin typeface="Cabin"/>
                  <a:ea typeface="Cabin"/>
                  <a:cs typeface="Cabin"/>
                  <a:sym typeface="Cabin"/>
                </a:rPr>
                <a:t>Chỉ số lều:</a:t>
              </a:r>
              <a:r>
                <a:rPr lang="en-US" sz="3999">
                  <a:solidFill>
                    <a:srgbClr val="000000"/>
                  </a:solidFill>
                  <a:latin typeface="Cabin"/>
                  <a:ea typeface="Cabin"/>
                  <a:cs typeface="Cabin"/>
                  <a:sym typeface="Cabin"/>
                </a:rPr>
                <a:t> Số thứ tự của lều sắp được đặt.</a:t>
              </a:r>
            </a:p>
            <a:p>
              <a:pPr algn="l" marL="863590" indent="-431795" lvl="1">
                <a:lnSpc>
                  <a:spcPts val="5199"/>
                </a:lnSpc>
                <a:buFont typeface="Arial"/>
                <a:buChar char="•"/>
              </a:pPr>
              <a:r>
                <a:rPr lang="en-US" sz="3999">
                  <a:solidFill>
                    <a:srgbClr val="003EA8"/>
                  </a:solidFill>
                  <a:latin typeface="Cabin"/>
                  <a:ea typeface="Cabin"/>
                  <a:cs typeface="Cabin"/>
                  <a:sym typeface="Cabin"/>
                </a:rPr>
                <a:t>Chỉ số vị trí:</a:t>
              </a:r>
              <a:r>
                <a:rPr lang="en-US" sz="3999">
                  <a:solidFill>
                    <a:srgbClr val="000000"/>
                  </a:solidFill>
                  <a:latin typeface="Cabin"/>
                  <a:ea typeface="Cabin"/>
                  <a:cs typeface="Cabin"/>
                  <a:sym typeface="Cabin"/>
                </a:rPr>
                <a:t> Vị trí đang được kiểm ra trong danh sách vị trí có thể đặt.</a:t>
              </a:r>
            </a:p>
            <a:p>
              <a:pPr algn="l" marL="863590" indent="-431795" lvl="1">
                <a:lnSpc>
                  <a:spcPts val="5199"/>
                </a:lnSpc>
                <a:buFont typeface="Arial"/>
                <a:buChar char="•"/>
              </a:pPr>
              <a:r>
                <a:rPr lang="en-US" sz="3999">
                  <a:solidFill>
                    <a:srgbClr val="003EA8"/>
                  </a:solidFill>
                  <a:latin typeface="Cabin"/>
                  <a:ea typeface="Cabin"/>
                  <a:cs typeface="Cabin"/>
                  <a:sym typeface="Cabin"/>
                </a:rPr>
                <a:t>Chỉ số hàng hiện tại:</a:t>
              </a:r>
              <a:r>
                <a:rPr lang="en-US" sz="3999">
                  <a:solidFill>
                    <a:srgbClr val="000000"/>
                  </a:solidFill>
                  <a:latin typeface="Cabin"/>
                  <a:ea typeface="Cabin"/>
                  <a:cs typeface="Cabin"/>
                  <a:sym typeface="Cabin"/>
                </a:rPr>
                <a:t> Chỉ số hàng của vị trí đặt thành công gần đây nhất.</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781633"/>
            <a:chOff x="0" y="0"/>
            <a:chExt cx="5999270" cy="2473958"/>
          </a:xfrm>
        </p:grpSpPr>
        <p:sp>
          <p:nvSpPr>
            <p:cNvPr name="Freeform 6" id="6"/>
            <p:cNvSpPr/>
            <p:nvPr/>
          </p:nvSpPr>
          <p:spPr>
            <a:xfrm flipH="false" flipV="false" rot="0">
              <a:off x="0" y="0"/>
              <a:ext cx="5999270" cy="2473958"/>
            </a:xfrm>
            <a:custGeom>
              <a:avLst/>
              <a:gdLst/>
              <a:ahLst/>
              <a:cxnLst/>
              <a:rect r="r" b="b" t="t" l="l"/>
              <a:pathLst>
                <a:path h="2473958" w="5999270">
                  <a:moveTo>
                    <a:pt x="0" y="0"/>
                  </a:moveTo>
                  <a:lnTo>
                    <a:pt x="5999270" y="0"/>
                  </a:lnTo>
                  <a:lnTo>
                    <a:pt x="5999270" y="2473958"/>
                  </a:lnTo>
                  <a:lnTo>
                    <a:pt x="0" y="247395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5500904"/>
            <a:chOff x="0" y="0"/>
            <a:chExt cx="19873832" cy="7334538"/>
          </a:xfrm>
        </p:grpSpPr>
        <p:sp>
          <p:nvSpPr>
            <p:cNvPr name="TextBox 14" id="14"/>
            <p:cNvSpPr txBox="true"/>
            <p:nvPr/>
          </p:nvSpPr>
          <p:spPr>
            <a:xfrm rot="0">
              <a:off x="0" y="1230071"/>
              <a:ext cx="19873832" cy="61044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bắt đầu (Initial</a:t>
              </a:r>
              <a:r>
                <a:rPr lang="en-US" b="true" sz="3999">
                  <a:solidFill>
                    <a:srgbClr val="003EA8"/>
                  </a:solidFill>
                  <a:latin typeface="Cabin Bold"/>
                  <a:ea typeface="Cabin Bold"/>
                  <a:cs typeface="Cabin Bold"/>
                  <a:sym typeface="Cabin Bold"/>
                </a:rPr>
                <a:t> State):</a:t>
              </a:r>
            </a:p>
            <a:p>
              <a:pPr algn="l" marL="863599" indent="-431800" lvl="1">
                <a:lnSpc>
                  <a:spcPts val="5199"/>
                </a:lnSpc>
                <a:buFont typeface="Arial"/>
                <a:buChar char="•"/>
              </a:pPr>
              <a:r>
                <a:rPr lang="en-US" sz="3999">
                  <a:solidFill>
                    <a:srgbClr val="000000"/>
                  </a:solidFill>
                  <a:latin typeface="Cabin"/>
                  <a:ea typeface="Cabin"/>
                  <a:cs typeface="Cabin"/>
                  <a:sym typeface="Cabin"/>
                </a:rPr>
                <a:t>Ma trận bao gồm cây và các số gợi ý ở mỗi hàng và mỗi cột.</a:t>
              </a:r>
            </a:p>
            <a:p>
              <a:pPr algn="l" marL="863599" indent="-431800" lvl="1">
                <a:lnSpc>
                  <a:spcPts val="5199"/>
                </a:lnSpc>
                <a:buFont typeface="Arial"/>
                <a:buChar char="•"/>
              </a:pPr>
              <a:r>
                <a:rPr lang="en-US" sz="3999">
                  <a:solidFill>
                    <a:srgbClr val="000000"/>
                  </a:solidFill>
                  <a:latin typeface="Cabin"/>
                  <a:ea typeface="Cabin"/>
                  <a:cs typeface="Cabin"/>
                  <a:sym typeface="Cabin"/>
                </a:rPr>
                <a:t>Không có lều nào ở trong ma trận.</a:t>
              </a:r>
            </a:p>
            <a:p>
              <a:pPr algn="l" marL="863599" indent="-431800" lvl="1">
                <a:lnSpc>
                  <a:spcPts val="5199"/>
                </a:lnSpc>
                <a:buFont typeface="Arial"/>
                <a:buChar char="•"/>
              </a:pPr>
              <a:r>
                <a:rPr lang="en-US" sz="3999">
                  <a:solidFill>
                    <a:srgbClr val="000000"/>
                  </a:solidFill>
                  <a:latin typeface="Cabin"/>
                  <a:ea typeface="Cabin"/>
                  <a:cs typeface="Cabin"/>
                  <a:sym typeface="Cabin"/>
                </a:rPr>
                <a:t>Danh sách vị trí chứa các ô có thể đặt.</a:t>
              </a:r>
            </a:p>
            <a:p>
              <a:pPr algn="l" marL="863599" indent="-431800" lvl="1">
                <a:lnSpc>
                  <a:spcPts val="5199"/>
                </a:lnSpc>
                <a:buFont typeface="Arial"/>
                <a:buChar char="•"/>
              </a:pPr>
              <a:r>
                <a:rPr lang="en-US" sz="3999">
                  <a:solidFill>
                    <a:srgbClr val="000000"/>
                  </a:solidFill>
                  <a:latin typeface="Cabin"/>
                  <a:ea typeface="Cabin"/>
                  <a:cs typeface="Cabin"/>
                  <a:sym typeface="Cabin"/>
                </a:rPr>
                <a:t>Lịch sử không có gì.</a:t>
              </a:r>
            </a:p>
            <a:p>
              <a:pPr algn="l" marL="863599" indent="-431800" lvl="1">
                <a:lnSpc>
                  <a:spcPts val="5199"/>
                </a:lnSpc>
                <a:buFont typeface="Arial"/>
                <a:buChar char="•"/>
              </a:pPr>
              <a:r>
                <a:rPr lang="en-US" sz="3999">
                  <a:solidFill>
                    <a:srgbClr val="000000"/>
                  </a:solidFill>
                  <a:latin typeface="Cabin"/>
                  <a:ea typeface="Cabin"/>
                  <a:cs typeface="Cabin"/>
                  <a:sym typeface="Cabin"/>
                </a:rPr>
                <a:t>Xét từ chỉ số lều bằng 0, chỉ số vị trí bằng 0, và chỉ số hàng hiện tại bằng 0.</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781633"/>
            <a:chOff x="0" y="0"/>
            <a:chExt cx="5999270" cy="2473958"/>
          </a:xfrm>
        </p:grpSpPr>
        <p:sp>
          <p:nvSpPr>
            <p:cNvPr name="Freeform 6" id="6"/>
            <p:cNvSpPr/>
            <p:nvPr/>
          </p:nvSpPr>
          <p:spPr>
            <a:xfrm flipH="false" flipV="false" rot="0">
              <a:off x="0" y="0"/>
              <a:ext cx="5999270" cy="2473958"/>
            </a:xfrm>
            <a:custGeom>
              <a:avLst/>
              <a:gdLst/>
              <a:ahLst/>
              <a:cxnLst/>
              <a:rect r="r" b="b" t="t" l="l"/>
              <a:pathLst>
                <a:path h="2473958" w="5999270">
                  <a:moveTo>
                    <a:pt x="0" y="0"/>
                  </a:moveTo>
                  <a:lnTo>
                    <a:pt x="5999270" y="0"/>
                  </a:lnTo>
                  <a:lnTo>
                    <a:pt x="5999270" y="2473958"/>
                  </a:lnTo>
                  <a:lnTo>
                    <a:pt x="0" y="247395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4186454"/>
            <a:chOff x="0" y="0"/>
            <a:chExt cx="19873832" cy="5581939"/>
          </a:xfrm>
        </p:grpSpPr>
        <p:sp>
          <p:nvSpPr>
            <p:cNvPr name="TextBox 14" id="14"/>
            <p:cNvSpPr txBox="true"/>
            <p:nvPr/>
          </p:nvSpPr>
          <p:spPr>
            <a:xfrm rot="0">
              <a:off x="0" y="1230071"/>
              <a:ext cx="19873832" cy="43518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Trạng thái kết thúc (Final</a:t>
              </a:r>
              <a:r>
                <a:rPr lang="en-US" b="true" sz="3999">
                  <a:solidFill>
                    <a:srgbClr val="003EA8"/>
                  </a:solidFill>
                  <a:latin typeface="Cabin Bold"/>
                  <a:ea typeface="Cabin Bold"/>
                  <a:cs typeface="Cabin Bold"/>
                  <a:sym typeface="Cabin Bold"/>
                </a:rPr>
                <a:t> State):</a:t>
              </a:r>
            </a:p>
            <a:p>
              <a:pPr algn="just" marL="863590" indent="-431795" lvl="1">
                <a:lnSpc>
                  <a:spcPts val="5199"/>
                </a:lnSpc>
                <a:buFont typeface="Arial"/>
                <a:buChar char="•"/>
              </a:pPr>
              <a:r>
                <a:rPr lang="en-US" sz="3999">
                  <a:solidFill>
                    <a:srgbClr val="000000"/>
                  </a:solidFill>
                  <a:latin typeface="Cabin"/>
                  <a:ea typeface="Cabin"/>
                  <a:cs typeface="Cabin"/>
                  <a:sym typeface="Cabin"/>
                </a:rPr>
                <a:t>Mỗi cây trong ma trận đã được ghép cặp với đúng một chiếc lều duy nhất.</a:t>
              </a:r>
            </a:p>
            <a:p>
              <a:pPr algn="just" marL="863590" indent="-431795" lvl="1">
                <a:lnSpc>
                  <a:spcPts val="5199"/>
                </a:lnSpc>
                <a:buFont typeface="Arial"/>
                <a:buChar char="•"/>
              </a:pPr>
              <a:r>
                <a:rPr lang="en-US" sz="3999">
                  <a:solidFill>
                    <a:srgbClr val="000000"/>
                  </a:solidFill>
                  <a:latin typeface="Cabin"/>
                  <a:ea typeface="Cabin"/>
                  <a:cs typeface="Cabin"/>
                  <a:sym typeface="Cabin"/>
                </a:rPr>
                <a:t>Tổng số lều ở mỗi hàng và mỗi cột phải bằng đúng với các con số gợi ý đã cho trước.</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691313" y="3097042"/>
            <a:ext cx="14905374" cy="6815354"/>
            <a:chOff x="0" y="0"/>
            <a:chExt cx="19873832" cy="9087139"/>
          </a:xfrm>
        </p:grpSpPr>
        <p:sp>
          <p:nvSpPr>
            <p:cNvPr name="TextBox 13" id="13"/>
            <p:cNvSpPr txBox="true"/>
            <p:nvPr/>
          </p:nvSpPr>
          <p:spPr>
            <a:xfrm rot="0">
              <a:off x="0" y="1230071"/>
              <a:ext cx="19873832" cy="78570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Các bước chuyển trạng thái (Transitions</a:t>
              </a:r>
              <a:r>
                <a:rPr lang="en-US" b="true" sz="3999">
                  <a:solidFill>
                    <a:srgbClr val="003EA8"/>
                  </a:solidFill>
                  <a:latin typeface="Cabin Bold"/>
                  <a:ea typeface="Cabin Bold"/>
                  <a:cs typeface="Cabin Bold"/>
                  <a:sym typeface="Cabin Bold"/>
                </a:rPr>
                <a:t>):</a:t>
              </a:r>
            </a:p>
            <a:p>
              <a:pPr algn="just" marL="863590" indent="-431795" lvl="1">
                <a:lnSpc>
                  <a:spcPts val="5199"/>
                </a:lnSpc>
                <a:buFont typeface="Arial"/>
                <a:buChar char="•"/>
              </a:pPr>
              <a:r>
                <a:rPr lang="en-US" b="true" sz="3999">
                  <a:solidFill>
                    <a:srgbClr val="003EA8"/>
                  </a:solidFill>
                  <a:latin typeface="Cabin Bold"/>
                  <a:ea typeface="Cabin Bold"/>
                  <a:cs typeface="Cabin Bold"/>
                  <a:sym typeface="Cabin Bold"/>
                </a:rPr>
                <a:t>Chọn</a:t>
              </a:r>
              <a:r>
                <a:rPr lang="en-US" b="true" sz="3999">
                  <a:solidFill>
                    <a:srgbClr val="003EA8"/>
                  </a:solidFill>
                  <a:latin typeface="Cabin Bold"/>
                  <a:ea typeface="Cabin Bold"/>
                  <a:cs typeface="Cabin Bold"/>
                  <a:sym typeface="Cabin Bold"/>
                </a:rPr>
                <a:t> vị trí trong danh sách:</a:t>
              </a:r>
              <a:r>
                <a:rPr lang="en-US" sz="3999">
                  <a:solidFill>
                    <a:srgbClr val="000000"/>
                  </a:solidFill>
                  <a:latin typeface="Cabin"/>
                  <a:ea typeface="Cabin"/>
                  <a:cs typeface="Cabin"/>
                  <a:sym typeface="Cabin"/>
                </a:rPr>
                <a:t> bắt đầu từ chỉ số vị trí ngay sau chỉ số vị trí của lều mới được đặt trước đó.</a:t>
              </a:r>
            </a:p>
            <a:p>
              <a:pPr algn="just" marL="863590" indent="-431795" lvl="1">
                <a:lnSpc>
                  <a:spcPts val="5199"/>
                </a:lnSpc>
                <a:buFont typeface="Arial"/>
                <a:buChar char="•"/>
              </a:pPr>
              <a:r>
                <a:rPr lang="en-US" b="true" sz="3999">
                  <a:solidFill>
                    <a:srgbClr val="003EA8"/>
                  </a:solidFill>
                  <a:latin typeface="Cabin Bold"/>
                  <a:ea typeface="Cabin Bold"/>
                  <a:cs typeface="Cabin Bold"/>
                  <a:sym typeface="Cabin Bold"/>
                </a:rPr>
                <a:t>Kiểm tra rà</a:t>
              </a:r>
              <a:r>
                <a:rPr lang="en-US" b="true" sz="3999">
                  <a:solidFill>
                    <a:srgbClr val="003EA8"/>
                  </a:solidFill>
                  <a:latin typeface="Cabin Bold"/>
                  <a:ea typeface="Cabin Bold"/>
                  <a:cs typeface="Cabin Bold"/>
                  <a:sym typeface="Cabin Bold"/>
                </a:rPr>
                <a:t>ng buộc:</a:t>
              </a:r>
            </a:p>
            <a:p>
              <a:pPr algn="just" marL="1727179" indent="-575726" lvl="2">
                <a:lnSpc>
                  <a:spcPts val="5199"/>
                </a:lnSpc>
                <a:buFont typeface="Arial"/>
                <a:buChar char="⚬"/>
              </a:pPr>
              <a:r>
                <a:rPr lang="en-US" sz="3999">
                  <a:solidFill>
                    <a:srgbClr val="000000"/>
                  </a:solidFill>
                  <a:latin typeface="Cabin"/>
                  <a:ea typeface="Cabin"/>
                  <a:cs typeface="Cabin"/>
                  <a:sym typeface="Cabin"/>
                </a:rPr>
                <a:t>Vị trí không nằm cạnh một cái lều đã được đặt (cạnh kề hoặc cạnh góc).</a:t>
              </a:r>
            </a:p>
            <a:p>
              <a:pPr algn="just" marL="1727179" indent="-575726" lvl="2">
                <a:lnSpc>
                  <a:spcPts val="5199"/>
                </a:lnSpc>
                <a:buFont typeface="Arial"/>
                <a:buChar char="⚬"/>
              </a:pPr>
              <a:r>
                <a:rPr lang="en-US" sz="3999">
                  <a:solidFill>
                    <a:srgbClr val="000000"/>
                  </a:solidFill>
                  <a:latin typeface="Cabin"/>
                  <a:ea typeface="Cabin"/>
                  <a:cs typeface="Cabin"/>
                  <a:sym typeface="Cabin"/>
                </a:rPr>
                <a:t>Vị trí phải trống (không phải lều).</a:t>
              </a:r>
            </a:p>
            <a:p>
              <a:pPr algn="just" marL="863590" indent="-431795" lvl="1">
                <a:lnSpc>
                  <a:spcPts val="5199"/>
                </a:lnSpc>
                <a:buFont typeface="Arial"/>
                <a:buChar char="•"/>
              </a:pPr>
              <a:r>
                <a:rPr lang="en-US" b="true" sz="3999">
                  <a:solidFill>
                    <a:srgbClr val="003EA8"/>
                  </a:solidFill>
                  <a:latin typeface="Cabin Bold"/>
                  <a:ea typeface="Cabin Bold"/>
                  <a:cs typeface="Cabin Bold"/>
                  <a:sym typeface="Cabin Bold"/>
                </a:rPr>
                <a:t>Commit:</a:t>
              </a:r>
              <a:r>
                <a:rPr lang="en-US" sz="3999">
                  <a:solidFill>
                    <a:srgbClr val="000000"/>
                  </a:solidFill>
                  <a:latin typeface="Cabin"/>
                  <a:ea typeface="Cabin"/>
                  <a:cs typeface="Cabin"/>
                  <a:sym typeface="Cabin"/>
                </a:rPr>
                <a:t> Khi các ràng buộc trên được thỏa mãn, thuật toán thực hiện "Commit", lưu lại lịch sử vị trí đặt lều, và quay về bước 1.</a:t>
              </a:r>
            </a:p>
          </p:txBody>
        </p:sp>
        <p:sp>
          <p:nvSpPr>
            <p:cNvPr name="TextBox 14" id="14"/>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5" id="15"/>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691313" y="3097042"/>
            <a:ext cx="14905374" cy="6158129"/>
            <a:chOff x="0" y="0"/>
            <a:chExt cx="19873832" cy="8210839"/>
          </a:xfrm>
        </p:grpSpPr>
        <p:sp>
          <p:nvSpPr>
            <p:cNvPr name="TextBox 13" id="13"/>
            <p:cNvSpPr txBox="true"/>
            <p:nvPr/>
          </p:nvSpPr>
          <p:spPr>
            <a:xfrm rot="0">
              <a:off x="0" y="1230071"/>
              <a:ext cx="19873832" cy="6980767"/>
            </a:xfrm>
            <a:prstGeom prst="rect">
              <a:avLst/>
            </a:prstGeom>
          </p:spPr>
          <p:txBody>
            <a:bodyPr anchor="t" rtlCol="false" tIns="0" lIns="0" bIns="0" rIns="0">
              <a:spAutoFit/>
            </a:bodyPr>
            <a:lstStyle/>
            <a:p>
              <a:pPr algn="just">
                <a:lnSpc>
                  <a:spcPts val="5199"/>
                </a:lnSpc>
              </a:pPr>
              <a:r>
                <a:rPr lang="en-US" b="true" sz="3999">
                  <a:solidFill>
                    <a:srgbClr val="003EA8"/>
                  </a:solidFill>
                  <a:latin typeface="Cabin Bold"/>
                  <a:ea typeface="Cabin Bold"/>
                  <a:cs typeface="Cabin Bold"/>
                  <a:sym typeface="Cabin Bold"/>
                </a:rPr>
                <a:t>Các bước chuyển trạng thái (Transitions</a:t>
              </a:r>
              <a:r>
                <a:rPr lang="en-US" b="true" sz="3999">
                  <a:solidFill>
                    <a:srgbClr val="003EA8"/>
                  </a:solidFill>
                  <a:latin typeface="Cabin Bold"/>
                  <a:ea typeface="Cabin Bold"/>
                  <a:cs typeface="Cabin Bold"/>
                  <a:sym typeface="Cabin Bold"/>
                </a:rPr>
                <a:t>):</a:t>
              </a:r>
            </a:p>
            <a:p>
              <a:pPr algn="just" marL="863590" indent="-431795" lvl="1">
                <a:lnSpc>
                  <a:spcPts val="5199"/>
                </a:lnSpc>
                <a:buFont typeface="Arial"/>
                <a:buChar char="•"/>
              </a:pPr>
              <a:r>
                <a:rPr lang="en-US" b="true" sz="3999">
                  <a:solidFill>
                    <a:srgbClr val="003EA8"/>
                  </a:solidFill>
                  <a:latin typeface="Cabin Bold"/>
                  <a:ea typeface="Cabin Bold"/>
                  <a:cs typeface="Cabin Bold"/>
                  <a:sym typeface="Cabin Bold"/>
                </a:rPr>
                <a:t>Qu</a:t>
              </a:r>
              <a:r>
                <a:rPr lang="en-US" b="true" sz="3999">
                  <a:solidFill>
                    <a:srgbClr val="003EA8"/>
                  </a:solidFill>
                  <a:latin typeface="Cabin Bold"/>
                  <a:ea typeface="Cabin Bold"/>
                  <a:cs typeface="Cabin Bold"/>
                  <a:sym typeface="Cabin Bold"/>
                </a:rPr>
                <a:t>ay lui: </a:t>
              </a:r>
              <a:r>
                <a:rPr lang="en-US" sz="3999">
                  <a:solidFill>
                    <a:srgbClr val="000000"/>
                  </a:solidFill>
                  <a:latin typeface="Cabin"/>
                  <a:ea typeface="Cabin"/>
                  <a:cs typeface="Cabin"/>
                  <a:sym typeface="Cabin"/>
                </a:rPr>
                <a:t>Nếu như chỉ số hàng trong vị trí được chọn nằ</a:t>
              </a:r>
              <a:r>
                <a:rPr lang="en-US" sz="3999">
                  <a:solidFill>
                    <a:srgbClr val="000000"/>
                  </a:solidFill>
                  <a:latin typeface="Cabin"/>
                  <a:ea typeface="Cabin"/>
                  <a:cs typeface="Cabin"/>
                  <a:sym typeface="Cabin"/>
                </a:rPr>
                <a:t>m ở một hà</a:t>
              </a:r>
              <a:r>
                <a:rPr lang="en-US" sz="3999">
                  <a:solidFill>
                    <a:srgbClr val="000000"/>
                  </a:solidFill>
                  <a:latin typeface="Cabin"/>
                  <a:ea typeface="Cabin"/>
                  <a:cs typeface="Cabin"/>
                  <a:sym typeface="Cabin"/>
                </a:rPr>
                <a:t>ng mới </a:t>
              </a:r>
              <a:r>
                <a:rPr lang="en-US" sz="3999">
                  <a:solidFill>
                    <a:srgbClr val="000000"/>
                  </a:solidFill>
                  <a:latin typeface="Cabin"/>
                  <a:ea typeface="Cabin"/>
                  <a:cs typeface="Cabin"/>
                  <a:sym typeface="Cabin"/>
                </a:rPr>
                <a:t>(</a:t>
              </a:r>
              <a:r>
                <a:rPr lang="en-US" sz="3999">
                  <a:solidFill>
                    <a:srgbClr val="000000"/>
                  </a:solidFill>
                  <a:latin typeface="Cabin"/>
                  <a:ea typeface="Cabin"/>
                  <a:cs typeface="Cabin"/>
                  <a:sym typeface="Cabin"/>
                </a:rPr>
                <a:t>hàng chưa đặt lều nào), số lượng các lều trong mỗi hàng trước đó phải bằng </a:t>
              </a:r>
              <a:r>
                <a:rPr lang="en-US" sz="3999">
                  <a:solidFill>
                    <a:srgbClr val="000000"/>
                  </a:solidFill>
                  <a:latin typeface="Cabin"/>
                  <a:ea typeface="Cabin"/>
                  <a:cs typeface="Cabin"/>
                  <a:sym typeface="Cabin"/>
                </a:rPr>
                <a:t>vớ</a:t>
              </a:r>
              <a:r>
                <a:rPr lang="en-US" sz="3999">
                  <a:solidFill>
                    <a:srgbClr val="000000"/>
                  </a:solidFill>
                  <a:latin typeface="Cabin"/>
                  <a:ea typeface="Cabin"/>
                  <a:cs typeface="Cabin"/>
                  <a:sym typeface="Cabin"/>
                </a:rPr>
                <a:t>i gợi ý các hàng tương ứng. Khi điều kiện không thỏa mãn, thuật toán ngay lập tức thoát khỏi lần gọi đệ quy hiện tại.</a:t>
              </a:r>
            </a:p>
            <a:p>
              <a:pPr algn="just" marL="863590" indent="-431795" lvl="1">
                <a:lnSpc>
                  <a:spcPts val="5199"/>
                </a:lnSpc>
                <a:buFont typeface="Arial"/>
                <a:buChar char="•"/>
              </a:pPr>
              <a:r>
                <a:rPr lang="en-US" b="true" sz="3999">
                  <a:solidFill>
                    <a:srgbClr val="003EA8"/>
                  </a:solidFill>
                  <a:latin typeface="Cabin Bold"/>
                  <a:ea typeface="Cabin Bold"/>
                  <a:cs typeface="Cabin Bold"/>
                  <a:sym typeface="Cabin Bold"/>
                </a:rPr>
                <a:t>Revert: </a:t>
              </a:r>
              <a:r>
                <a:rPr lang="en-US" sz="3999">
                  <a:solidFill>
                    <a:srgbClr val="000000"/>
                  </a:solidFill>
                  <a:latin typeface="Cabin"/>
                  <a:ea typeface="Cabin"/>
                  <a:cs typeface="Cabin"/>
                  <a:sym typeface="Cabin"/>
                </a:rPr>
                <a:t>Thuật toán gỡ bỏ lều đã đặt và chọn vị trí kế tiếp trong danh sách.</a:t>
              </a:r>
            </a:p>
          </p:txBody>
        </p:sp>
        <p:sp>
          <p:nvSpPr>
            <p:cNvPr name="TextBox 14" id="14"/>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sp>
        <p:nvSpPr>
          <p:cNvPr name="TextBox 15" id="15"/>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2" id="12"/>
          <p:cNvGraphicFramePr>
            <a:graphicFrameLocks noGrp="true"/>
          </p:cNvGraphicFramePr>
          <p:nvPr/>
        </p:nvGraphicFramePr>
        <p:xfrm>
          <a:off x="5004570" y="4639818"/>
          <a:ext cx="8247094" cy="3657600"/>
        </p:xfrm>
        <a:graphic>
          <a:graphicData uri="http://schemas.openxmlformats.org/drawingml/2006/table">
            <a:tbl>
              <a:tblPr/>
              <a:tblGrid>
                <a:gridCol w="2749031"/>
                <a:gridCol w="2749031"/>
                <a:gridCol w="2749031"/>
              </a:tblGrid>
              <a:tr h="1578543">
                <a:tc>
                  <a:txBody>
                    <a:bodyPr anchor="t" rtlCol="false"/>
                    <a:lstStyle/>
                    <a:p>
                      <a:pPr algn="ctr">
                        <a:lnSpc>
                          <a:spcPts val="42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Peak Memory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DFS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0.1151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1.3724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Heuristic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0.06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0.6771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691313" y="3318808"/>
            <a:ext cx="14905374" cy="1301751"/>
          </a:xfrm>
          <a:prstGeom prst="rect">
            <a:avLst/>
          </a:prstGeom>
        </p:spPr>
        <p:txBody>
          <a:bodyPr anchor="t" rtlCol="false" tIns="0" lIns="0" bIns="0" rIns="0">
            <a:spAutoFit/>
          </a:bodyPr>
          <a:lstStyle/>
          <a:p>
            <a:pPr algn="just">
              <a:lnSpc>
                <a:spcPts val="5199"/>
              </a:lnSpc>
            </a:pPr>
            <a:r>
              <a:rPr lang="en-US" sz="3999" b="true">
                <a:solidFill>
                  <a:srgbClr val="000000"/>
                </a:solidFill>
                <a:latin typeface="Cabin Bold"/>
                <a:ea typeface="Cabin Bold"/>
                <a:cs typeface="Cabin Bold"/>
                <a:sym typeface="Cabin Bold"/>
              </a:rPr>
              <a:t>Với đầu vào là ma trận </a:t>
            </a:r>
            <a:r>
              <a:rPr lang="en-US" sz="3999" b="true">
                <a:solidFill>
                  <a:srgbClr val="003EA8"/>
                </a:solidFill>
                <a:latin typeface="Cabin Bold"/>
                <a:ea typeface="Cabin Bold"/>
                <a:cs typeface="Cabin Bold"/>
                <a:sym typeface="Cabin Bold"/>
              </a:rPr>
              <a:t>8 x 8</a:t>
            </a:r>
            <a:r>
              <a:rPr lang="en-US" sz="3999" b="true">
                <a:solidFill>
                  <a:srgbClr val="000000"/>
                </a:solidFill>
                <a:latin typeface="Cabin Bold"/>
                <a:ea typeface="Cabin Bold"/>
                <a:cs typeface="Cabin Bold"/>
                <a:sym typeface="Cabin Bold"/>
              </a:rPr>
              <a:t>, ta có kết quả chạy như sau:</a:t>
            </a:r>
          </a:p>
          <a:p>
            <a:pPr algn="just">
              <a:lnSpc>
                <a:spcPts val="5199"/>
              </a:lnSpc>
            </a:pPr>
          </a:p>
        </p:txBody>
      </p:sp>
      <p:sp>
        <p:nvSpPr>
          <p:cNvPr name="TextBox 14" id="14"/>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So sánh 2 thuật toán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2" id="12"/>
          <p:cNvGraphicFramePr>
            <a:graphicFrameLocks noGrp="true"/>
          </p:cNvGraphicFramePr>
          <p:nvPr/>
        </p:nvGraphicFramePr>
        <p:xfrm>
          <a:off x="5004570" y="4639818"/>
          <a:ext cx="8247094" cy="3657600"/>
        </p:xfrm>
        <a:graphic>
          <a:graphicData uri="http://schemas.openxmlformats.org/drawingml/2006/table">
            <a:tbl>
              <a:tblPr/>
              <a:tblGrid>
                <a:gridCol w="2749031"/>
                <a:gridCol w="2749031"/>
                <a:gridCol w="2749031"/>
              </a:tblGrid>
              <a:tr h="1578543">
                <a:tc>
                  <a:txBody>
                    <a:bodyPr anchor="t" rtlCol="false"/>
                    <a:lstStyle/>
                    <a:p>
                      <a:pPr algn="ctr">
                        <a:lnSpc>
                          <a:spcPts val="42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Peak Memory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DFS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0.6209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1.6511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Heuristic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0.9611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0.8645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691313" y="3318808"/>
            <a:ext cx="14905374" cy="1301751"/>
          </a:xfrm>
          <a:prstGeom prst="rect">
            <a:avLst/>
          </a:prstGeom>
        </p:spPr>
        <p:txBody>
          <a:bodyPr anchor="t" rtlCol="false" tIns="0" lIns="0" bIns="0" rIns="0">
            <a:spAutoFit/>
          </a:bodyPr>
          <a:lstStyle/>
          <a:p>
            <a:pPr algn="just">
              <a:lnSpc>
                <a:spcPts val="5199"/>
              </a:lnSpc>
            </a:pPr>
            <a:r>
              <a:rPr lang="en-US" sz="3999" b="true">
                <a:solidFill>
                  <a:srgbClr val="000000"/>
                </a:solidFill>
                <a:latin typeface="Cabin Bold"/>
                <a:ea typeface="Cabin Bold"/>
                <a:cs typeface="Cabin Bold"/>
                <a:sym typeface="Cabin Bold"/>
              </a:rPr>
              <a:t>Với đầu vào là ma trận </a:t>
            </a:r>
            <a:r>
              <a:rPr lang="en-US" sz="3999" b="true">
                <a:solidFill>
                  <a:srgbClr val="003EA8"/>
                </a:solidFill>
                <a:latin typeface="Cabin Bold"/>
                <a:ea typeface="Cabin Bold"/>
                <a:cs typeface="Cabin Bold"/>
                <a:sym typeface="Cabin Bold"/>
              </a:rPr>
              <a:t>10 x 10</a:t>
            </a:r>
            <a:r>
              <a:rPr lang="en-US" sz="3999" b="true">
                <a:solidFill>
                  <a:srgbClr val="000000"/>
                </a:solidFill>
                <a:latin typeface="Cabin Bold"/>
                <a:ea typeface="Cabin Bold"/>
                <a:cs typeface="Cabin Bold"/>
                <a:sym typeface="Cabin Bold"/>
              </a:rPr>
              <a:t>, ta có kết quả chạy như sau:</a:t>
            </a:r>
          </a:p>
          <a:p>
            <a:pPr algn="just">
              <a:lnSpc>
                <a:spcPts val="5199"/>
              </a:lnSpc>
            </a:pPr>
          </a:p>
        </p:txBody>
      </p:sp>
      <p:sp>
        <p:nvSpPr>
          <p:cNvPr name="TextBox 14" id="14"/>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So sánh 2 thuật toán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6781633"/>
            <a:chOff x="0" y="0"/>
            <a:chExt cx="5999270" cy="2473958"/>
          </a:xfrm>
        </p:grpSpPr>
        <p:sp>
          <p:nvSpPr>
            <p:cNvPr name="Freeform 6" id="6"/>
            <p:cNvSpPr/>
            <p:nvPr/>
          </p:nvSpPr>
          <p:spPr>
            <a:xfrm flipH="false" flipV="false" rot="0">
              <a:off x="0" y="0"/>
              <a:ext cx="5999270" cy="2473958"/>
            </a:xfrm>
            <a:custGeom>
              <a:avLst/>
              <a:gdLst/>
              <a:ahLst/>
              <a:cxnLst/>
              <a:rect r="r" b="b" t="t" l="l"/>
              <a:pathLst>
                <a:path h="2473958" w="5999270">
                  <a:moveTo>
                    <a:pt x="0" y="0"/>
                  </a:moveTo>
                  <a:lnTo>
                    <a:pt x="5999270" y="0"/>
                  </a:lnTo>
                  <a:lnTo>
                    <a:pt x="5999270" y="2473958"/>
                  </a:lnTo>
                  <a:lnTo>
                    <a:pt x="0" y="2473958"/>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671144" y="3298039"/>
            <a:ext cx="14905374" cy="3529229"/>
            <a:chOff x="0" y="0"/>
            <a:chExt cx="19873832" cy="4705639"/>
          </a:xfrm>
        </p:grpSpPr>
        <p:sp>
          <p:nvSpPr>
            <p:cNvPr name="TextBox 14" id="14"/>
            <p:cNvSpPr txBox="true"/>
            <p:nvPr/>
          </p:nvSpPr>
          <p:spPr>
            <a:xfrm rot="0">
              <a:off x="0" y="1230071"/>
              <a:ext cx="19873832" cy="3475567"/>
            </a:xfrm>
            <a:prstGeom prst="rect">
              <a:avLst/>
            </a:prstGeom>
          </p:spPr>
          <p:txBody>
            <a:bodyPr anchor="t" rtlCol="false" tIns="0" lIns="0" bIns="0" rIns="0">
              <a:spAutoFit/>
            </a:bodyPr>
            <a:lstStyle/>
            <a:p>
              <a:pPr algn="just">
                <a:lnSpc>
                  <a:spcPts val="5199"/>
                </a:lnSpc>
              </a:pPr>
              <a:r>
                <a:rPr lang="en-US" sz="3999">
                  <a:solidFill>
                    <a:srgbClr val="003EA8"/>
                  </a:solidFill>
                  <a:latin typeface="Cabin"/>
                  <a:ea typeface="Cabin"/>
                  <a:cs typeface="Cabin"/>
                  <a:sym typeface="Cabin"/>
                </a:rPr>
                <a:t>Thuật toán DFS với input 8x8</a:t>
              </a:r>
              <a:r>
                <a:rPr lang="en-US" sz="3999">
                  <a:solidFill>
                    <a:srgbClr val="000000"/>
                  </a:solidFill>
                  <a:latin typeface="Cabin"/>
                  <a:ea typeface="Cabin"/>
                  <a:cs typeface="Cabin"/>
                  <a:sym typeface="Cabin"/>
                </a:rPr>
                <a:t> có xu hướng </a:t>
              </a:r>
              <a:r>
                <a:rPr lang="en-US" b="true" sz="3999" i="true">
                  <a:solidFill>
                    <a:srgbClr val="003EA8"/>
                  </a:solidFill>
                  <a:latin typeface="Cabin Bold Italics"/>
                  <a:ea typeface="Cabin Bold Italics"/>
                  <a:cs typeface="Cabin Bold Italics"/>
                  <a:sym typeface="Cabin Bold Italics"/>
                </a:rPr>
                <a:t>chậm hơn</a:t>
              </a:r>
              <a:r>
                <a:rPr lang="en-US" sz="3999">
                  <a:solidFill>
                    <a:srgbClr val="000000"/>
                  </a:solidFill>
                  <a:latin typeface="Cabin"/>
                  <a:ea typeface="Cabin"/>
                  <a:cs typeface="Cabin"/>
                  <a:sym typeface="Cabin"/>
                </a:rPr>
                <a:t> so với </a:t>
              </a:r>
              <a:r>
                <a:rPr lang="en-US" sz="3999">
                  <a:solidFill>
                    <a:srgbClr val="003EA8"/>
                  </a:solidFill>
                  <a:latin typeface="Cabin"/>
                  <a:ea typeface="Cabin"/>
                  <a:cs typeface="Cabin"/>
                  <a:sym typeface="Cabin"/>
                </a:rPr>
                <a:t>thuật</a:t>
              </a:r>
              <a:r>
                <a:rPr lang="en-US" sz="3999">
                  <a:solidFill>
                    <a:srgbClr val="003EA8"/>
                  </a:solidFill>
                  <a:latin typeface="Cabin"/>
                  <a:ea typeface="Cabin"/>
                  <a:cs typeface="Cabin"/>
                  <a:sym typeface="Cabin"/>
                </a:rPr>
                <a:t> toán Heuristic</a:t>
              </a:r>
              <a:r>
                <a:rPr lang="en-US" sz="3999">
                  <a:solidFill>
                    <a:srgbClr val="000000"/>
                  </a:solidFill>
                  <a:latin typeface="Cabin"/>
                  <a:ea typeface="Cabin"/>
                  <a:cs typeface="Cabin"/>
                  <a:sym typeface="Cabin"/>
                </a:rPr>
                <a:t>, nhưng </a:t>
              </a:r>
              <a:r>
                <a:rPr lang="en-US" b="true" sz="3999" i="true">
                  <a:solidFill>
                    <a:srgbClr val="003EA8"/>
                  </a:solidFill>
                  <a:latin typeface="Cabin Bold Italics"/>
                  <a:ea typeface="Cabin Bold Italics"/>
                  <a:cs typeface="Cabin Bold Italics"/>
                  <a:sym typeface="Cabin Bold Italics"/>
                </a:rPr>
                <a:t>nhanh hơn</a:t>
              </a:r>
              <a:r>
                <a:rPr lang="en-US" sz="3999">
                  <a:solidFill>
                    <a:srgbClr val="000000"/>
                  </a:solidFill>
                  <a:latin typeface="Cabin"/>
                  <a:ea typeface="Cabin"/>
                  <a:cs typeface="Cabin"/>
                  <a:sym typeface="Cabin"/>
                </a:rPr>
                <a:t> </a:t>
              </a:r>
              <a:r>
                <a:rPr lang="en-US" sz="3999">
                  <a:solidFill>
                    <a:srgbClr val="003EA8"/>
                  </a:solidFill>
                  <a:latin typeface="Cabin"/>
                  <a:ea typeface="Cabin"/>
                  <a:cs typeface="Cabin"/>
                  <a:sym typeface="Cabin"/>
                </a:rPr>
                <a:t>trong một vài input 10x10</a:t>
              </a:r>
              <a:r>
                <a:rPr lang="en-US" sz="3999">
                  <a:solidFill>
                    <a:srgbClr val="000000"/>
                  </a:solidFill>
                  <a:latin typeface="Cabin"/>
                  <a:ea typeface="Cabin"/>
                  <a:cs typeface="Cabin"/>
                  <a:sym typeface="Cabin"/>
                </a:rPr>
                <a:t>.</a:t>
              </a:r>
            </a:p>
            <a:p>
              <a:pPr algn="just">
                <a:lnSpc>
                  <a:spcPts val="5199"/>
                </a:lnSpc>
              </a:pPr>
              <a:r>
                <a:rPr lang="en-US" sz="3999">
                  <a:solidFill>
                    <a:srgbClr val="003EA8"/>
                  </a:solidFill>
                  <a:latin typeface="Cabin"/>
                  <a:ea typeface="Cabin"/>
                  <a:cs typeface="Cabin"/>
                  <a:sym typeface="Cabin"/>
                </a:rPr>
                <a:t>Thuật toán Heuristic</a:t>
              </a:r>
              <a:r>
                <a:rPr lang="en-US" sz="3999">
                  <a:solidFill>
                    <a:srgbClr val="000000"/>
                  </a:solidFill>
                  <a:latin typeface="Cabin"/>
                  <a:ea typeface="Cabin"/>
                  <a:cs typeface="Cabin"/>
                  <a:sym typeface="Cabin"/>
                </a:rPr>
                <a:t> cho thấy </a:t>
              </a:r>
              <a:r>
                <a:rPr lang="en-US" b="true" sz="3999" i="true">
                  <a:solidFill>
                    <a:srgbClr val="003EA8"/>
                  </a:solidFill>
                  <a:latin typeface="Cabin Bold Italics"/>
                  <a:ea typeface="Cabin Bold Italics"/>
                  <a:cs typeface="Cabin Bold Italics"/>
                  <a:sym typeface="Cabin Bold Italics"/>
                </a:rPr>
                <a:t>sử dụng ít bộ nhớ</a:t>
              </a:r>
              <a:r>
                <a:rPr lang="en-US" sz="3999">
                  <a:solidFill>
                    <a:srgbClr val="000000"/>
                  </a:solidFill>
                  <a:latin typeface="Cabin"/>
                  <a:ea typeface="Cabin"/>
                  <a:cs typeface="Cabin"/>
                  <a:sym typeface="Cabin"/>
                </a:rPr>
                <a:t> hơn so với </a:t>
              </a:r>
              <a:r>
                <a:rPr lang="en-US" sz="3999">
                  <a:solidFill>
                    <a:srgbClr val="003EA8"/>
                  </a:solidFill>
                  <a:latin typeface="Cabin"/>
                  <a:ea typeface="Cabin"/>
                  <a:cs typeface="Cabin"/>
                  <a:sym typeface="Cabin"/>
                </a:rPr>
                <a:t>thuật toán DFS</a:t>
              </a:r>
              <a:r>
                <a:rPr lang="en-US" sz="3999">
                  <a:solidFill>
                    <a:srgbClr val="000000"/>
                  </a:solidFill>
                  <a:latin typeface="Cabin"/>
                  <a:ea typeface="Cabin"/>
                  <a:cs typeface="Cabin"/>
                  <a:sym typeface="Cabin"/>
                </a:rPr>
                <a:t> </a:t>
              </a:r>
              <a:r>
                <a:rPr lang="en-US" sz="3999">
                  <a:solidFill>
                    <a:srgbClr val="003EA8"/>
                  </a:solidFill>
                  <a:latin typeface="Cabin"/>
                  <a:ea typeface="Cabin"/>
                  <a:cs typeface="Cabin"/>
                  <a:sym typeface="Cabin"/>
                </a:rPr>
                <a:t>trong cả hai trường hợp</a:t>
              </a:r>
              <a:r>
                <a:rPr lang="en-US" sz="3999">
                  <a:solidFill>
                    <a:srgbClr val="000000"/>
                  </a:solidFill>
                  <a:latin typeface="Cabin"/>
                  <a:ea typeface="Cabin"/>
                  <a:cs typeface="Cabin"/>
                  <a:sym typeface="Cabin"/>
                </a:rPr>
                <a:t>.</a:t>
              </a:r>
            </a:p>
          </p:txBody>
        </p:sp>
        <p:sp>
          <p:nvSpPr>
            <p:cNvPr name="TextBox 15" id="15"/>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Nhận xét</a:t>
              </a:r>
            </a:p>
          </p:txBody>
        </p:sp>
      </p:grpSp>
      <p:sp>
        <p:nvSpPr>
          <p:cNvPr name="TextBox 16" id="16"/>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So sánh 2 thuật toán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grpSp>
        <p:nvGrpSpPr>
          <p:cNvPr name="Group 7" id="7"/>
          <p:cNvGrpSpPr/>
          <p:nvPr/>
        </p:nvGrpSpPr>
        <p:grpSpPr>
          <a:xfrm rot="0">
            <a:off x="926069" y="2915205"/>
            <a:ext cx="8358265" cy="5768744"/>
            <a:chOff x="0" y="0"/>
            <a:chExt cx="3049118" cy="2104453"/>
          </a:xfrm>
        </p:grpSpPr>
        <p:sp>
          <p:nvSpPr>
            <p:cNvPr name="Freeform 8" id="8"/>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9" id="9"/>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9908900" y="3235000"/>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2" id="12"/>
          <p:cNvGrpSpPr/>
          <p:nvPr/>
        </p:nvGrpSpPr>
        <p:grpSpPr>
          <a:xfrm rot="0">
            <a:off x="10055579" y="7995212"/>
            <a:ext cx="121908" cy="121908"/>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4" id="14"/>
          <p:cNvSpPr txBox="true"/>
          <p:nvPr/>
        </p:nvSpPr>
        <p:spPr>
          <a:xfrm rot="0">
            <a:off x="3343782" y="924697"/>
            <a:ext cx="12129110"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Killer Sudoku</a:t>
            </a:r>
          </a:p>
        </p:txBody>
      </p:sp>
      <p:sp>
        <p:nvSpPr>
          <p:cNvPr name="Freeform 15" id="15"/>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8" id="18"/>
          <p:cNvGrpSpPr/>
          <p:nvPr/>
        </p:nvGrpSpPr>
        <p:grpSpPr>
          <a:xfrm rot="0">
            <a:off x="1671144" y="4547408"/>
            <a:ext cx="6868115" cy="2818028"/>
            <a:chOff x="0" y="0"/>
            <a:chExt cx="9157487" cy="3757371"/>
          </a:xfrm>
        </p:grpSpPr>
        <p:sp>
          <p:nvSpPr>
            <p:cNvPr name="TextBox 19" id="19"/>
            <p:cNvSpPr txBox="true"/>
            <p:nvPr/>
          </p:nvSpPr>
          <p:spPr>
            <a:xfrm rot="0">
              <a:off x="0" y="1050154"/>
              <a:ext cx="9157487" cy="2707217"/>
            </a:xfrm>
            <a:prstGeom prst="rect">
              <a:avLst/>
            </a:prstGeom>
          </p:spPr>
          <p:txBody>
            <a:bodyPr anchor="t" rtlCol="false" tIns="0" lIns="0" bIns="0" rIns="0">
              <a:spAutoFit/>
            </a:bodyPr>
            <a:lstStyle/>
            <a:p>
              <a:pPr algn="just" marL="539748" indent="-269874" lvl="1">
                <a:lnSpc>
                  <a:spcPts val="3249"/>
                </a:lnSpc>
                <a:buFont typeface="Arial"/>
                <a:buChar char="•"/>
              </a:pPr>
              <a:r>
                <a:rPr lang="en-US" sz="2499">
                  <a:solidFill>
                    <a:srgbClr val="000000"/>
                  </a:solidFill>
                  <a:latin typeface="Cabin"/>
                  <a:ea typeface="Cabin"/>
                  <a:cs typeface="Cabin"/>
                  <a:sym typeface="Cabin"/>
                </a:rPr>
                <a:t>Trò chơ</a:t>
              </a:r>
              <a:r>
                <a:rPr lang="en-US" sz="2499">
                  <a:solidFill>
                    <a:srgbClr val="000000"/>
                  </a:solidFill>
                  <a:latin typeface="Cabin"/>
                  <a:ea typeface="Cabin"/>
                  <a:cs typeface="Cabin"/>
                  <a:sym typeface="Cabin"/>
                </a:rPr>
                <a:t>i Killer Sudoku là một trò chơi giải đố được cung cấp ở trang </a:t>
              </a:r>
              <a:r>
                <a:rPr lang="en-US" sz="2499">
                  <a:solidFill>
                    <a:srgbClr val="003EA8"/>
                  </a:solidFill>
                  <a:latin typeface="Cabin"/>
                  <a:ea typeface="Cabin"/>
                  <a:cs typeface="Cabin"/>
                  <a:sym typeface="Cabin"/>
                </a:rPr>
                <a:t>https://www.puzzle-tents.com/</a:t>
              </a:r>
              <a:r>
                <a:rPr lang="en-US" sz="2499">
                  <a:solidFill>
                    <a:srgbClr val="000000"/>
                  </a:solidFill>
                  <a:latin typeface="Cabin"/>
                  <a:ea typeface="Cabin"/>
                  <a:cs typeface="Cabin"/>
                  <a:sym typeface="Cabin"/>
                </a:rPr>
                <a:t>. Trò chơi tập trung vào khả năng suy luận và thực thi các ràng buộc chặt chẽ để tìm ra lời giải.</a:t>
              </a:r>
            </a:p>
          </p:txBody>
        </p:sp>
        <p:sp>
          <p:nvSpPr>
            <p:cNvPr name="TextBox 20" id="20"/>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Giới thiệu</a:t>
              </a:r>
            </a:p>
          </p:txBody>
        </p:sp>
      </p:grpSp>
      <p:sp>
        <p:nvSpPr>
          <p:cNvPr name="Freeform 21" id="21"/>
          <p:cNvSpPr/>
          <p:nvPr/>
        </p:nvSpPr>
        <p:spPr>
          <a:xfrm flipH="false" flipV="false" rot="0">
            <a:off x="11266745" y="3807437"/>
            <a:ext cx="4641955" cy="3826314"/>
          </a:xfrm>
          <a:custGeom>
            <a:avLst/>
            <a:gdLst/>
            <a:ahLst/>
            <a:cxnLst/>
            <a:rect r="r" b="b" t="t" l="l"/>
            <a:pathLst>
              <a:path h="3826314" w="4641955">
                <a:moveTo>
                  <a:pt x="0" y="0"/>
                </a:moveTo>
                <a:lnTo>
                  <a:pt x="4641955" y="0"/>
                </a:lnTo>
                <a:lnTo>
                  <a:pt x="4641955" y="3826314"/>
                </a:lnTo>
                <a:lnTo>
                  <a:pt x="0" y="3826314"/>
                </a:lnTo>
                <a:lnTo>
                  <a:pt x="0" y="0"/>
                </a:lnTo>
                <a:close/>
              </a:path>
            </a:pathLst>
          </a:custGeom>
          <a:blipFill>
            <a:blip r:embed="rId9"/>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sp>
        <p:nvSpPr>
          <p:cNvPr name="Freeform 7" id="7"/>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908900" y="3235000"/>
            <a:ext cx="121908" cy="121908"/>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0" id="10"/>
          <p:cNvGrpSpPr/>
          <p:nvPr/>
        </p:nvGrpSpPr>
        <p:grpSpPr>
          <a:xfrm rot="0">
            <a:off x="10055579" y="7995212"/>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2" id="12"/>
          <p:cNvSpPr txBox="true"/>
          <p:nvPr/>
        </p:nvSpPr>
        <p:spPr>
          <a:xfrm rot="0">
            <a:off x="3343782" y="924697"/>
            <a:ext cx="12129110"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Killer Sudoku</a:t>
            </a:r>
          </a:p>
        </p:txBody>
      </p:sp>
      <p:sp>
        <p:nvSpPr>
          <p:cNvPr name="Freeform 13" id="13"/>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926069" y="2915205"/>
            <a:ext cx="8358265" cy="5768744"/>
            <a:chOff x="0" y="0"/>
            <a:chExt cx="3049118" cy="2104453"/>
          </a:xfrm>
        </p:grpSpPr>
        <p:sp>
          <p:nvSpPr>
            <p:cNvPr name="Freeform 17" id="17"/>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18" id="18"/>
          <p:cNvSpPr/>
          <p:nvPr/>
        </p:nvSpPr>
        <p:spPr>
          <a:xfrm flipH="false" flipV="false" rot="0">
            <a:off x="11266745" y="3807437"/>
            <a:ext cx="4641955" cy="3826314"/>
          </a:xfrm>
          <a:custGeom>
            <a:avLst/>
            <a:gdLst/>
            <a:ahLst/>
            <a:cxnLst/>
            <a:rect r="r" b="b" t="t" l="l"/>
            <a:pathLst>
              <a:path h="3826314" w="4641955">
                <a:moveTo>
                  <a:pt x="0" y="0"/>
                </a:moveTo>
                <a:lnTo>
                  <a:pt x="4641955" y="0"/>
                </a:lnTo>
                <a:lnTo>
                  <a:pt x="4641955" y="3826314"/>
                </a:lnTo>
                <a:lnTo>
                  <a:pt x="0" y="3826314"/>
                </a:lnTo>
                <a:lnTo>
                  <a:pt x="0" y="0"/>
                </a:lnTo>
                <a:close/>
              </a:path>
            </a:pathLst>
          </a:custGeom>
          <a:blipFill>
            <a:blip r:embed="rId9"/>
            <a:stretch>
              <a:fillRect l="0" t="0" r="0" b="0"/>
            </a:stretch>
          </a:blipFill>
        </p:spPr>
      </p:sp>
      <p:grpSp>
        <p:nvGrpSpPr>
          <p:cNvPr name="Group 19" id="19"/>
          <p:cNvGrpSpPr/>
          <p:nvPr/>
        </p:nvGrpSpPr>
        <p:grpSpPr>
          <a:xfrm rot="0">
            <a:off x="1671144" y="3298039"/>
            <a:ext cx="6868115" cy="5275478"/>
            <a:chOff x="0" y="0"/>
            <a:chExt cx="9157487" cy="7033971"/>
          </a:xfrm>
        </p:grpSpPr>
        <p:sp>
          <p:nvSpPr>
            <p:cNvPr name="TextBox 20" id="20"/>
            <p:cNvSpPr txBox="true"/>
            <p:nvPr/>
          </p:nvSpPr>
          <p:spPr>
            <a:xfrm rot="0">
              <a:off x="0" y="1050154"/>
              <a:ext cx="9157487" cy="5983817"/>
            </a:xfrm>
            <a:prstGeom prst="rect">
              <a:avLst/>
            </a:prstGeom>
          </p:spPr>
          <p:txBody>
            <a:bodyPr anchor="t" rtlCol="false" tIns="0" lIns="0" bIns="0" rIns="0">
              <a:spAutoFit/>
            </a:bodyPr>
            <a:lstStyle/>
            <a:p>
              <a:pPr algn="just">
                <a:lnSpc>
                  <a:spcPts val="3249"/>
                </a:lnSpc>
              </a:pPr>
              <a:r>
                <a:rPr lang="en-US" sz="2499">
                  <a:solidFill>
                    <a:srgbClr val="000000"/>
                  </a:solidFill>
                  <a:latin typeface="Cabin"/>
                  <a:ea typeface="Cabin"/>
                  <a:cs typeface="Cabin"/>
                  <a:sym typeface="Cabin"/>
                </a:rPr>
                <a:t>Trò chơ</a:t>
              </a:r>
              <a:r>
                <a:rPr lang="en-US" sz="2499">
                  <a:solidFill>
                    <a:srgbClr val="000000"/>
                  </a:solidFill>
                  <a:latin typeface="Cabin"/>
                  <a:ea typeface="Cabin"/>
                  <a:cs typeface="Cabin"/>
                  <a:sym typeface="Cabin"/>
                </a:rPr>
                <a:t>i là </a:t>
              </a:r>
              <a:r>
                <a:rPr lang="en-US" b="true" sz="2499">
                  <a:solidFill>
                    <a:srgbClr val="003EA8"/>
                  </a:solidFill>
                  <a:latin typeface="Cabin Bold"/>
                  <a:ea typeface="Cabin Bold"/>
                  <a:cs typeface="Cabin Bold"/>
                  <a:sym typeface="Cabin Bold"/>
                </a:rPr>
                <a:t>một ma trận vuông kích thước NxN dạng lưới (4x4 hoặc 9x9) </a:t>
              </a:r>
              <a:r>
                <a:rPr lang="en-US" sz="2499">
                  <a:solidFill>
                    <a:srgbClr val="000000"/>
                  </a:solidFill>
                  <a:latin typeface="Cabin"/>
                  <a:ea typeface="Cabin"/>
                  <a:cs typeface="Cabin"/>
                  <a:sym typeface="Cabin"/>
                </a:rPr>
                <a:t>, gồm:</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Các ô trống:</a:t>
              </a:r>
              <a:r>
                <a:rPr lang="en-US" sz="2499">
                  <a:solidFill>
                    <a:srgbClr val="000000"/>
                  </a:solidFill>
                  <a:latin typeface="Cabin"/>
                  <a:ea typeface="Cabin"/>
                  <a:cs typeface="Cabin"/>
                  <a:sym typeface="Cabin"/>
                </a:rPr>
                <a:t> là vị trí người chơi sẽ điền các chữ số từ 1 đến 4 (với lưới 4x4) hoặc 1 đến 9 (với lưới 9x9)</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Các khối vuông nhỏ: </a:t>
              </a:r>
              <a:r>
                <a:rPr lang="en-US" sz="2499">
                  <a:solidFill>
                    <a:srgbClr val="000000"/>
                  </a:solidFill>
                  <a:latin typeface="Cabin"/>
                  <a:ea typeface="Cabin"/>
                  <a:cs typeface="Cabin"/>
                  <a:sym typeface="Cabin"/>
                </a:rPr>
                <a:t>kích thước 2x2 (với lưới 4x4) và 3x3 (với lưới 9x9)</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Các ràng buộc tổng:</a:t>
              </a:r>
              <a:r>
                <a:rPr lang="en-US" sz="2499">
                  <a:solidFill>
                    <a:srgbClr val="000000"/>
                  </a:solidFill>
                  <a:latin typeface="Cabin"/>
                  <a:ea typeface="Cabin"/>
                  <a:cs typeface="Cabin"/>
                  <a:sym typeface="Cabin"/>
                </a:rPr>
                <a:t> sẽ có các ô trống được kết nối với nhau và ràng buộc về tổng của các ô đó được hiển thị trên vùng biên của khu vực được kết nối</a:t>
              </a:r>
            </a:p>
          </p:txBody>
        </p:sp>
        <p:sp>
          <p:nvSpPr>
            <p:cNvPr name="TextBox 21" id="21"/>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Thành phần trò chơi</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sp>
        <p:nvSpPr>
          <p:cNvPr name="Freeform 7" id="7"/>
          <p:cNvSpPr/>
          <p:nvPr/>
        </p:nvSpPr>
        <p:spPr>
          <a:xfrm flipH="false" flipV="false" rot="-203414">
            <a:off x="16397478" y="5421428"/>
            <a:ext cx="417336" cy="598331"/>
          </a:xfrm>
          <a:custGeom>
            <a:avLst/>
            <a:gdLst/>
            <a:ahLst/>
            <a:cxnLst/>
            <a:rect r="r" b="b" t="t" l="l"/>
            <a:pathLst>
              <a:path h="598331" w="417336">
                <a:moveTo>
                  <a:pt x="0" y="0"/>
                </a:moveTo>
                <a:lnTo>
                  <a:pt x="417335" y="0"/>
                </a:lnTo>
                <a:lnTo>
                  <a:pt x="417335" y="598331"/>
                </a:lnTo>
                <a:lnTo>
                  <a:pt x="0" y="598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908900" y="3235000"/>
            <a:ext cx="121908" cy="121908"/>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10" id="10"/>
          <p:cNvGrpSpPr/>
          <p:nvPr/>
        </p:nvGrpSpPr>
        <p:grpSpPr>
          <a:xfrm rot="0">
            <a:off x="10055579" y="7995212"/>
            <a:ext cx="121908" cy="12190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2" id="12"/>
          <p:cNvSpPr txBox="true"/>
          <p:nvPr/>
        </p:nvSpPr>
        <p:spPr>
          <a:xfrm rot="0">
            <a:off x="3343782" y="924697"/>
            <a:ext cx="12129110"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Trò chơi Killer Sudoku</a:t>
            </a:r>
          </a:p>
        </p:txBody>
      </p:sp>
      <p:sp>
        <p:nvSpPr>
          <p:cNvPr name="Freeform 13" id="13"/>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203414">
            <a:off x="10459980" y="3690627"/>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926069" y="2915205"/>
            <a:ext cx="8358265" cy="5768744"/>
            <a:chOff x="0" y="0"/>
            <a:chExt cx="3049118" cy="2104453"/>
          </a:xfrm>
        </p:grpSpPr>
        <p:sp>
          <p:nvSpPr>
            <p:cNvPr name="Freeform 17" id="17"/>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18" id="18"/>
          <p:cNvSpPr/>
          <p:nvPr/>
        </p:nvSpPr>
        <p:spPr>
          <a:xfrm flipH="false" flipV="false" rot="0">
            <a:off x="11266745" y="3807437"/>
            <a:ext cx="4641955" cy="3826314"/>
          </a:xfrm>
          <a:custGeom>
            <a:avLst/>
            <a:gdLst/>
            <a:ahLst/>
            <a:cxnLst/>
            <a:rect r="r" b="b" t="t" l="l"/>
            <a:pathLst>
              <a:path h="3826314" w="4641955">
                <a:moveTo>
                  <a:pt x="0" y="0"/>
                </a:moveTo>
                <a:lnTo>
                  <a:pt x="4641955" y="0"/>
                </a:lnTo>
                <a:lnTo>
                  <a:pt x="4641955" y="3826314"/>
                </a:lnTo>
                <a:lnTo>
                  <a:pt x="0" y="3826314"/>
                </a:lnTo>
                <a:lnTo>
                  <a:pt x="0" y="0"/>
                </a:lnTo>
                <a:close/>
              </a:path>
            </a:pathLst>
          </a:custGeom>
          <a:blipFill>
            <a:blip r:embed="rId9"/>
            <a:stretch>
              <a:fillRect l="0" t="0" r="0" b="0"/>
            </a:stretch>
          </a:blipFill>
        </p:spPr>
      </p:sp>
      <p:grpSp>
        <p:nvGrpSpPr>
          <p:cNvPr name="Group 19" id="19"/>
          <p:cNvGrpSpPr/>
          <p:nvPr/>
        </p:nvGrpSpPr>
        <p:grpSpPr>
          <a:xfrm rot="0">
            <a:off x="1671144" y="3298039"/>
            <a:ext cx="6868115" cy="4456328"/>
            <a:chOff x="0" y="0"/>
            <a:chExt cx="9157487" cy="5941771"/>
          </a:xfrm>
        </p:grpSpPr>
        <p:sp>
          <p:nvSpPr>
            <p:cNvPr name="TextBox 20" id="20"/>
            <p:cNvSpPr txBox="true"/>
            <p:nvPr/>
          </p:nvSpPr>
          <p:spPr>
            <a:xfrm rot="0">
              <a:off x="0" y="1050154"/>
              <a:ext cx="9157487" cy="4891617"/>
            </a:xfrm>
            <a:prstGeom prst="rect">
              <a:avLst/>
            </a:prstGeom>
          </p:spPr>
          <p:txBody>
            <a:bodyPr anchor="t" rtlCol="false" tIns="0" lIns="0" bIns="0" rIns="0">
              <a:spAutoFit/>
            </a:bodyPr>
            <a:lstStyle/>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Ràng buộc về </a:t>
              </a:r>
              <a:r>
                <a:rPr lang="en-US" b="true" sz="2499">
                  <a:solidFill>
                    <a:srgbClr val="003EA8"/>
                  </a:solidFill>
                  <a:latin typeface="Cabin Bold"/>
                  <a:ea typeface="Cabin Bold"/>
                  <a:cs typeface="Cabin Bold"/>
                  <a:sym typeface="Cabin Bold"/>
                </a:rPr>
                <a:t>hàng, cột và khối: </a:t>
              </a:r>
              <a:r>
                <a:rPr lang="en-US" sz="2499">
                  <a:solidFill>
                    <a:srgbClr val="000000"/>
                  </a:solidFill>
                  <a:latin typeface="Cabin"/>
                  <a:ea typeface="Cabin"/>
                  <a:cs typeface="Cabin"/>
                  <a:sym typeface="Cabin"/>
                </a:rPr>
                <a:t>các ô trong cùng 1 hàng, 1 cột và 1 khối vuông nhỏ phải có các giá trị khác nhau</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Ràng buộc về tổng các khu vực:</a:t>
              </a:r>
              <a:r>
                <a:rPr lang="en-US" sz="2499">
                  <a:solidFill>
                    <a:srgbClr val="000000"/>
                  </a:solidFill>
                  <a:latin typeface="Cabin"/>
                  <a:ea typeface="Cabin"/>
                  <a:cs typeface="Cabin"/>
                  <a:sym typeface="Cabin"/>
                </a:rPr>
                <a:t> tổng giá trị của các ô trống phải bằng con số tổng được ràng buộc từ trước</a:t>
              </a:r>
            </a:p>
            <a:p>
              <a:pPr algn="just" marL="539748" indent="-269874" lvl="1">
                <a:lnSpc>
                  <a:spcPts val="3249"/>
                </a:lnSpc>
                <a:buFont typeface="Arial"/>
                <a:buChar char="•"/>
              </a:pPr>
              <a:r>
                <a:rPr lang="en-US" b="true" sz="2499">
                  <a:solidFill>
                    <a:srgbClr val="003EA8"/>
                  </a:solidFill>
                  <a:latin typeface="Cabin Bold"/>
                  <a:ea typeface="Cabin Bold"/>
                  <a:cs typeface="Cabin Bold"/>
                  <a:sym typeface="Cabin Bold"/>
                </a:rPr>
                <a:t>Ràng buộc về giá trị các ô trống: </a:t>
              </a:r>
              <a:r>
                <a:rPr lang="en-US" sz="2499">
                  <a:solidFill>
                    <a:srgbClr val="000000"/>
                  </a:solidFill>
                  <a:latin typeface="Cabin"/>
                  <a:ea typeface="Cabin"/>
                  <a:cs typeface="Cabin"/>
                  <a:sym typeface="Cabin"/>
                </a:rPr>
                <a:t>giá trị của các ô trống chỉ được nằm trong đoạn [1,4] (với lưới 4x4) hoặc [1,9] (với lưới 9x9)</a:t>
              </a:r>
            </a:p>
          </p:txBody>
        </p:sp>
        <p:sp>
          <p:nvSpPr>
            <p:cNvPr name="TextBox 21" id="21"/>
            <p:cNvSpPr txBox="true"/>
            <p:nvPr/>
          </p:nvSpPr>
          <p:spPr>
            <a:xfrm rot="0">
              <a:off x="0" y="-38100"/>
              <a:ext cx="9157487" cy="846667"/>
            </a:xfrm>
            <a:prstGeom prst="rect">
              <a:avLst/>
            </a:prstGeom>
          </p:spPr>
          <p:txBody>
            <a:bodyPr anchor="t" rtlCol="false" tIns="0" lIns="0" bIns="0" rIns="0">
              <a:spAutoFit/>
            </a:bodyPr>
            <a:lstStyle/>
            <a:p>
              <a:pPr algn="ctr">
                <a:lnSpc>
                  <a:spcPts val="5199"/>
                </a:lnSpc>
              </a:pPr>
              <a:r>
                <a:rPr lang="en-US" b="true" sz="3999">
                  <a:solidFill>
                    <a:srgbClr val="003EA8"/>
                  </a:solidFill>
                  <a:latin typeface="Muli Bold"/>
                  <a:ea typeface="Muli Bold"/>
                  <a:cs typeface="Muli Bold"/>
                  <a:sym typeface="Muli Bold"/>
                </a:rPr>
                <a:t>Luật chơi</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5768744"/>
            <a:chOff x="0" y="0"/>
            <a:chExt cx="5999270" cy="2104453"/>
          </a:xfrm>
        </p:grpSpPr>
        <p:sp>
          <p:nvSpPr>
            <p:cNvPr name="Freeform 4" id="4"/>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5629809"/>
            <a:chOff x="0" y="0"/>
            <a:chExt cx="19873832" cy="7506412"/>
          </a:xfrm>
        </p:grpSpPr>
        <p:sp>
          <p:nvSpPr>
            <p:cNvPr name="TextBox 12" id="12"/>
            <p:cNvSpPr txBox="true"/>
            <p:nvPr/>
          </p:nvSpPr>
          <p:spPr>
            <a:xfrm rot="0">
              <a:off x="0" y="1230071"/>
              <a:ext cx="19873832" cy="62763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Đầu vào bài toán:</a:t>
              </a:r>
            </a:p>
            <a:p>
              <a:pPr algn="just" marL="1554464" indent="-518155" lvl="2">
                <a:lnSpc>
                  <a:spcPts val="4679"/>
                </a:lnSpc>
                <a:buFont typeface="Arial"/>
                <a:buChar char="⚬"/>
              </a:pPr>
              <a:r>
                <a:rPr lang="en-US" sz="3599">
                  <a:solidFill>
                    <a:srgbClr val="000000"/>
                  </a:solidFill>
                  <a:latin typeface="Cabin"/>
                  <a:ea typeface="Cabin"/>
                  <a:cs typeface="Cabin"/>
                  <a:sym typeface="Cabin"/>
                </a:rPr>
                <a:t>Do ràng buộc về hàng, cột và khối của game Sudoku là cố định với tất cả bài toán, nên với mỗi ván game, ta sẽ chỉ cần thông tin về ràng buộc về tổng của một vùng ô (một lồng) và các ô trống nằm trong vùng ô đó</a:t>
              </a:r>
            </a:p>
            <a:p>
              <a:pPr algn="just" marL="1554464" indent="-518155" lvl="2">
                <a:lnSpc>
                  <a:spcPts val="4679"/>
                </a:lnSpc>
                <a:buFont typeface="Arial"/>
                <a:buChar char="⚬"/>
              </a:pPr>
              <a:r>
                <a:rPr lang="en-US" sz="3599">
                  <a:solidFill>
                    <a:srgbClr val="000000"/>
                  </a:solidFill>
                  <a:latin typeface="Cabin"/>
                  <a:ea typeface="Cabin"/>
                  <a:cs typeface="Cabin"/>
                  <a:sym typeface="Cabin"/>
                </a:rPr>
                <a:t>Đầu vào bài toán sẽ là danh sách về thông tin các lồng, với mỗi lồng sẽ có các thông tin về các ô trống thuộc lồng đó, và tổng giá trị được quy định của lồng</a:t>
              </a: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5768744"/>
            <a:chOff x="0" y="0"/>
            <a:chExt cx="5999270" cy="2104453"/>
          </a:xfrm>
        </p:grpSpPr>
        <p:sp>
          <p:nvSpPr>
            <p:cNvPr name="Freeform 4" id="4"/>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3858159"/>
            <a:chOff x="0" y="0"/>
            <a:chExt cx="19873832" cy="5144212"/>
          </a:xfrm>
        </p:grpSpPr>
        <p:sp>
          <p:nvSpPr>
            <p:cNvPr name="TextBox 12" id="12"/>
            <p:cNvSpPr txBox="true"/>
            <p:nvPr/>
          </p:nvSpPr>
          <p:spPr>
            <a:xfrm rot="0">
              <a:off x="0" y="1230071"/>
              <a:ext cx="19873832" cy="39141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Trạng thái tổng quát:</a:t>
              </a:r>
            </a:p>
            <a:p>
              <a:pPr algn="just" marL="1554464" indent="-518155" lvl="2">
                <a:lnSpc>
                  <a:spcPts val="4679"/>
                </a:lnSpc>
                <a:buFont typeface="Arial"/>
                <a:buChar char="⚬"/>
              </a:pPr>
              <a:r>
                <a:rPr lang="en-US" sz="3599">
                  <a:solidFill>
                    <a:srgbClr val="000000"/>
                  </a:solidFill>
                  <a:latin typeface="Cabin"/>
                  <a:ea typeface="Cabin"/>
                  <a:cs typeface="Cabin"/>
                  <a:sym typeface="Cabin"/>
                </a:rPr>
                <a:t>Trạng thái tổng quát được mô hình hóa thành một ma trận vuông 4x4 hoặc 9x9 với các ô chứa giá trị.</a:t>
              </a:r>
            </a:p>
            <a:p>
              <a:pPr algn="just" marL="1554464" indent="-518155" lvl="2">
                <a:lnSpc>
                  <a:spcPts val="4679"/>
                </a:lnSpc>
                <a:buFont typeface="Arial"/>
                <a:buChar char="⚬"/>
              </a:pPr>
              <a:r>
                <a:rPr lang="en-US" sz="3599">
                  <a:solidFill>
                    <a:srgbClr val="000000"/>
                  </a:solidFill>
                  <a:latin typeface="Cabin"/>
                  <a:ea typeface="Cabin"/>
                  <a:cs typeface="Cabin"/>
                  <a:sym typeface="Cabin"/>
                </a:rPr>
                <a:t>Các ô trống sẽ nhận giá trị từ 0 đến 4 hoặc từ 0 đến 9 ( giá trị 0 đại diện cho việc ô đó đang chưa điền giá trị)</a:t>
              </a: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5768744"/>
            <a:chOff x="0" y="0"/>
            <a:chExt cx="5999270" cy="2104453"/>
          </a:xfrm>
        </p:grpSpPr>
        <p:sp>
          <p:nvSpPr>
            <p:cNvPr name="Freeform 4" id="4"/>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3267609"/>
            <a:chOff x="0" y="0"/>
            <a:chExt cx="19873832" cy="4356812"/>
          </a:xfrm>
        </p:grpSpPr>
        <p:sp>
          <p:nvSpPr>
            <p:cNvPr name="TextBox 12" id="12"/>
            <p:cNvSpPr txBox="true"/>
            <p:nvPr/>
          </p:nvSpPr>
          <p:spPr>
            <a:xfrm rot="0">
              <a:off x="0" y="1230071"/>
              <a:ext cx="19873832" cy="31267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Trạng thái bắt đầu:</a:t>
              </a:r>
            </a:p>
            <a:p>
              <a:pPr algn="just" marL="1554464" indent="-518155" lvl="2">
                <a:lnSpc>
                  <a:spcPts val="4679"/>
                </a:lnSpc>
                <a:buFont typeface="Arial"/>
                <a:buChar char="⚬"/>
              </a:pPr>
              <a:r>
                <a:rPr lang="en-US" sz="3599">
                  <a:solidFill>
                    <a:srgbClr val="000000"/>
                  </a:solidFill>
                  <a:latin typeface="Cabin"/>
                  <a:ea typeface="Cabin"/>
                  <a:cs typeface="Cabin"/>
                  <a:sym typeface="Cabin"/>
                </a:rPr>
                <a:t>Khi bắt đầu giải, ta sẽ khởi tạo một ma trận vuông 4x4 hoặc 9x9 (dựa trên tổng giá trị các lồng của đầu vào bài toán)</a:t>
              </a:r>
            </a:p>
            <a:p>
              <a:pPr algn="just" marL="1554464" indent="-518155" lvl="2">
                <a:lnSpc>
                  <a:spcPts val="4679"/>
                </a:lnSpc>
                <a:buFont typeface="Arial"/>
                <a:buChar char="⚬"/>
              </a:pPr>
              <a:r>
                <a:rPr lang="en-US" sz="3599">
                  <a:solidFill>
                    <a:srgbClr val="000000"/>
                  </a:solidFill>
                  <a:latin typeface="Cabin"/>
                  <a:ea typeface="Cabin"/>
                  <a:cs typeface="Cabin"/>
                  <a:sym typeface="Cabin"/>
                </a:rPr>
                <a:t>Các ô trống trên ma trận khởi tạo sẽ nhận giá trị 0</a:t>
              </a: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5768744"/>
            <a:chOff x="0" y="0"/>
            <a:chExt cx="5999270" cy="2104453"/>
          </a:xfrm>
        </p:grpSpPr>
        <p:sp>
          <p:nvSpPr>
            <p:cNvPr name="Freeform 4" id="4"/>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4448709"/>
            <a:chOff x="0" y="0"/>
            <a:chExt cx="19873832" cy="5931612"/>
          </a:xfrm>
        </p:grpSpPr>
        <p:sp>
          <p:nvSpPr>
            <p:cNvPr name="TextBox 12" id="12"/>
            <p:cNvSpPr txBox="true"/>
            <p:nvPr/>
          </p:nvSpPr>
          <p:spPr>
            <a:xfrm rot="0">
              <a:off x="0" y="1230071"/>
              <a:ext cx="19873832" cy="47015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Trạng thái kết thúc:</a:t>
              </a:r>
            </a:p>
            <a:p>
              <a:pPr algn="just" marL="1554464" indent="-518155" lvl="2">
                <a:lnSpc>
                  <a:spcPts val="4679"/>
                </a:lnSpc>
                <a:buFont typeface="Arial"/>
                <a:buChar char="⚬"/>
              </a:pPr>
              <a:r>
                <a:rPr lang="en-US" sz="3599">
                  <a:solidFill>
                    <a:srgbClr val="000000"/>
                  </a:solidFill>
                  <a:latin typeface="Cabin"/>
                  <a:ea typeface="Cabin"/>
                  <a:cs typeface="Cabin"/>
                  <a:sym typeface="Cabin"/>
                </a:rPr>
                <a:t>Khi giải bài toán thành công, ta sẽ được một ma trận với các giá trị trên các ô thuộc [1,4] hoặc [1,9], đồng thời thỏa mãn luật chơi và đề bài được đưa ra (các ràng buộc về hàng, cột, khối và tổng giá trị các ô trên mỗi lồng)</a:t>
              </a:r>
            </a:p>
            <a:p>
              <a:pPr algn="just">
                <a:lnSpc>
                  <a:spcPts val="4679"/>
                </a:lnSpc>
              </a:pP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5768744"/>
            <a:chOff x="0" y="0"/>
            <a:chExt cx="5999270" cy="2104453"/>
          </a:xfrm>
        </p:grpSpPr>
        <p:sp>
          <p:nvSpPr>
            <p:cNvPr name="Freeform 4" id="4"/>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5039259"/>
            <a:chOff x="0" y="0"/>
            <a:chExt cx="19873832" cy="6719012"/>
          </a:xfrm>
        </p:grpSpPr>
        <p:sp>
          <p:nvSpPr>
            <p:cNvPr name="TextBox 12" id="12"/>
            <p:cNvSpPr txBox="true"/>
            <p:nvPr/>
          </p:nvSpPr>
          <p:spPr>
            <a:xfrm rot="0">
              <a:off x="0" y="1230071"/>
              <a:ext cx="19873832" cy="54889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Các bước chuyển trạng thái:</a:t>
              </a:r>
            </a:p>
            <a:p>
              <a:pPr algn="just" marL="1554464" indent="-518155" lvl="2">
                <a:lnSpc>
                  <a:spcPts val="4679"/>
                </a:lnSpc>
                <a:buFont typeface="Arial"/>
                <a:buChar char="⚬"/>
              </a:pPr>
              <a:r>
                <a:rPr lang="en-US" sz="3599">
                  <a:solidFill>
                    <a:srgbClr val="000000"/>
                  </a:solidFill>
                  <a:latin typeface="Cabin"/>
                  <a:ea typeface="Cabin"/>
                  <a:cs typeface="Cabin"/>
                  <a:sym typeface="Cabin"/>
                </a:rPr>
                <a:t>Hành động trong trò chơi này là ta sẽ chọn một ô trống tại một vị trí bất kì trên ma trận mà chưa có giá trị (giá trị đang là 0)</a:t>
              </a:r>
            </a:p>
            <a:p>
              <a:pPr algn="just" marL="1554464" indent="-518155" lvl="2">
                <a:lnSpc>
                  <a:spcPts val="4679"/>
                </a:lnSpc>
                <a:buFont typeface="Arial"/>
                <a:buChar char="⚬"/>
              </a:pPr>
              <a:r>
                <a:rPr lang="en-US" sz="3599">
                  <a:solidFill>
                    <a:srgbClr val="000000"/>
                  </a:solidFill>
                  <a:latin typeface="Cabin"/>
                  <a:ea typeface="Cabin"/>
                  <a:cs typeface="Cabin"/>
                  <a:sym typeface="Cabin"/>
                </a:rPr>
                <a:t>Tại ô đó, ta sẽ điền một giá trị thuộc [1,N]</a:t>
              </a:r>
            </a:p>
            <a:p>
              <a:pPr algn="just" marL="777232" indent="-388616" lvl="1">
                <a:lnSpc>
                  <a:spcPts val="4679"/>
                </a:lnSpc>
                <a:buFont typeface="Arial"/>
                <a:buChar char="•"/>
              </a:pPr>
              <a:r>
                <a:rPr lang="en-US" sz="3599">
                  <a:solidFill>
                    <a:srgbClr val="000000"/>
                  </a:solidFill>
                  <a:latin typeface="Cabin"/>
                  <a:ea typeface="Cabin"/>
                  <a:cs typeface="Cabin"/>
                  <a:sym typeface="Cabin"/>
                </a:rPr>
                <a:t>Điều kiện chuyển trạng thái:</a:t>
              </a:r>
            </a:p>
            <a:p>
              <a:pPr algn="just" marL="1554464" indent="-518155" lvl="2">
                <a:lnSpc>
                  <a:spcPts val="4679"/>
                </a:lnSpc>
                <a:buFont typeface="Arial"/>
                <a:buChar char="⚬"/>
              </a:pPr>
              <a:r>
                <a:rPr lang="en-US" sz="3599">
                  <a:solidFill>
                    <a:srgbClr val="000000"/>
                  </a:solidFill>
                  <a:latin typeface="Cabin"/>
                  <a:ea typeface="Cabin"/>
                  <a:cs typeface="Cabin"/>
                  <a:sym typeface="Cabin"/>
                </a:rPr>
                <a:t>Giá trị mới được điền cùng với các giá trị đã điền trước đó phải thỏa mãn các ràng buộc được đưa ra</a:t>
              </a: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2915205"/>
            <a:ext cx="16445245" cy="6343095"/>
            <a:chOff x="0" y="0"/>
            <a:chExt cx="5999270" cy="2313978"/>
          </a:xfrm>
        </p:grpSpPr>
        <p:sp>
          <p:nvSpPr>
            <p:cNvPr name="Freeform 4" id="4"/>
            <p:cNvSpPr/>
            <p:nvPr/>
          </p:nvSpPr>
          <p:spPr>
            <a:xfrm flipH="false" flipV="false" rot="0">
              <a:off x="0" y="0"/>
              <a:ext cx="5999270" cy="2313978"/>
            </a:xfrm>
            <a:custGeom>
              <a:avLst/>
              <a:gdLst/>
              <a:ahLst/>
              <a:cxnLst/>
              <a:rect r="r" b="b" t="t" l="l"/>
              <a:pathLst>
                <a:path h="2313978" w="5999270">
                  <a:moveTo>
                    <a:pt x="0" y="0"/>
                  </a:moveTo>
                  <a:lnTo>
                    <a:pt x="5999270" y="0"/>
                  </a:lnTo>
                  <a:lnTo>
                    <a:pt x="5999270" y="2313978"/>
                  </a:lnTo>
                  <a:lnTo>
                    <a:pt x="0" y="2313978"/>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9" id="9"/>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671144" y="3298039"/>
            <a:ext cx="14905374" cy="5629809"/>
            <a:chOff x="0" y="0"/>
            <a:chExt cx="19873832" cy="7506412"/>
          </a:xfrm>
        </p:grpSpPr>
        <p:sp>
          <p:nvSpPr>
            <p:cNvPr name="TextBox 12" id="12"/>
            <p:cNvSpPr txBox="true"/>
            <p:nvPr/>
          </p:nvSpPr>
          <p:spPr>
            <a:xfrm rot="0">
              <a:off x="0" y="1230071"/>
              <a:ext cx="19873832" cy="62763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Cập nhật:</a:t>
              </a:r>
            </a:p>
            <a:p>
              <a:pPr algn="just" marL="1554464" indent="-518155" lvl="2">
                <a:lnSpc>
                  <a:spcPts val="4679"/>
                </a:lnSpc>
                <a:buFont typeface="Arial"/>
                <a:buChar char="⚬"/>
              </a:pPr>
              <a:r>
                <a:rPr lang="en-US" sz="3599">
                  <a:solidFill>
                    <a:srgbClr val="000000"/>
                  </a:solidFill>
                  <a:latin typeface="Cabin"/>
                  <a:ea typeface="Cabin"/>
                  <a:cs typeface="Cabin"/>
                  <a:sym typeface="Cabin"/>
                </a:rPr>
                <a:t>Trạng thái của lưới được thay đổi, số lượng ô trống giảm đi 1</a:t>
              </a:r>
            </a:p>
            <a:p>
              <a:pPr algn="just" marL="1554464" indent="-518155" lvl="2">
                <a:lnSpc>
                  <a:spcPts val="4679"/>
                </a:lnSpc>
                <a:buFont typeface="Arial"/>
                <a:buChar char="⚬"/>
              </a:pPr>
              <a:r>
                <a:rPr lang="en-US" sz="3599">
                  <a:solidFill>
                    <a:srgbClr val="000000"/>
                  </a:solidFill>
                  <a:latin typeface="Cabin"/>
                  <a:ea typeface="Cabin"/>
                  <a:cs typeface="Cabin"/>
                  <a:sym typeface="Cabin"/>
                </a:rPr>
                <a:t>Ô trống vừa được điền sẽ nhận giá trị mới thuộc [1,N] thỏa mãn các ràng buộc được đưa ra</a:t>
              </a:r>
            </a:p>
            <a:p>
              <a:pPr algn="just" marL="777232" indent="-388616" lvl="1">
                <a:lnSpc>
                  <a:spcPts val="4679"/>
                </a:lnSpc>
                <a:buFont typeface="Arial"/>
                <a:buChar char="•"/>
              </a:pPr>
              <a:r>
                <a:rPr lang="en-US" sz="3599">
                  <a:solidFill>
                    <a:srgbClr val="000000"/>
                  </a:solidFill>
                  <a:latin typeface="Cabin"/>
                  <a:ea typeface="Cabin"/>
                  <a:cs typeface="Cabin"/>
                  <a:sym typeface="Cabin"/>
                </a:rPr>
                <a:t>Quay lui:</a:t>
              </a:r>
            </a:p>
            <a:p>
              <a:pPr algn="just" marL="1554464" indent="-518155" lvl="2">
                <a:lnSpc>
                  <a:spcPts val="4679"/>
                </a:lnSpc>
                <a:buFont typeface="Arial"/>
                <a:buChar char="⚬"/>
              </a:pPr>
              <a:r>
                <a:rPr lang="en-US" sz="3599">
                  <a:solidFill>
                    <a:srgbClr val="000000"/>
                  </a:solidFill>
                  <a:latin typeface="Cabin"/>
                  <a:ea typeface="Cabin"/>
                  <a:cs typeface="Cabin"/>
                  <a:sym typeface="Cabin"/>
                </a:rPr>
                <a:t>Khi phát hiện một ô chưa có giá trị nhưng không còn giá trị nào thỏa mãn các ràng buộc, ta sẽ quay về ô được điền vào trước đó để rẽ nhánh đến một trường hợp khác</a:t>
              </a:r>
            </a:p>
          </p:txBody>
        </p:sp>
        <p:sp>
          <p:nvSpPr>
            <p:cNvPr name="TextBox 13" id="13"/>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Mô hình hóa bài toán</a:t>
              </a:r>
            </a:p>
          </p:txBody>
        </p:sp>
      </p:grpSp>
      <p:grpSp>
        <p:nvGrpSpPr>
          <p:cNvPr name="Group 14" id="14"/>
          <p:cNvGrpSpPr/>
          <p:nvPr/>
        </p:nvGrpSpPr>
        <p:grpSpPr>
          <a:xfrm rot="0">
            <a:off x="921378" y="561011"/>
            <a:ext cx="16445245" cy="1906519"/>
            <a:chOff x="0" y="0"/>
            <a:chExt cx="5999270" cy="695503"/>
          </a:xfrm>
        </p:grpSpPr>
        <p:sp>
          <p:nvSpPr>
            <p:cNvPr name="Freeform 15" id="15"/>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TextBox 16" id="16"/>
          <p:cNvSpPr txBox="true"/>
          <p:nvPr/>
        </p:nvSpPr>
        <p:spPr>
          <a:xfrm rot="0">
            <a:off x="3267789" y="785384"/>
            <a:ext cx="11752421" cy="1371600"/>
          </a:xfrm>
          <a:prstGeom prst="rect">
            <a:avLst/>
          </a:prstGeom>
        </p:spPr>
        <p:txBody>
          <a:bodyPr anchor="t" rtlCol="false" tIns="0" lIns="0" bIns="0" rIns="0">
            <a:spAutoFit/>
          </a:bodyPr>
          <a:lstStyle/>
          <a:p>
            <a:pPr algn="ctr">
              <a:lnSpc>
                <a:spcPts val="10800"/>
              </a:lnSpc>
              <a:spcBef>
                <a:spcPct val="0"/>
              </a:spcBef>
            </a:pPr>
            <a:r>
              <a:rPr lang="en-US" b="true" sz="9000">
                <a:solidFill>
                  <a:srgbClr val="003EA8"/>
                </a:solidFill>
                <a:latin typeface="Muli Bold"/>
                <a:ea typeface="Muli Bold"/>
                <a:cs typeface="Muli Bold"/>
                <a:sym typeface="Muli Bold"/>
              </a:rPr>
              <a:t>Trò chơi Killer Sudoku</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3143906"/>
            <a:ext cx="16445245" cy="3999188"/>
            <a:chOff x="0" y="0"/>
            <a:chExt cx="5999270" cy="1458915"/>
          </a:xfrm>
        </p:grpSpPr>
        <p:sp>
          <p:nvSpPr>
            <p:cNvPr name="Freeform 4" id="4"/>
            <p:cNvSpPr/>
            <p:nvPr/>
          </p:nvSpPr>
          <p:spPr>
            <a:xfrm flipH="false" flipV="false" rot="0">
              <a:off x="0" y="0"/>
              <a:ext cx="5999270" cy="1458915"/>
            </a:xfrm>
            <a:custGeom>
              <a:avLst/>
              <a:gdLst/>
              <a:ahLst/>
              <a:cxnLst/>
              <a:rect r="r" b="b" t="t" l="l"/>
              <a:pathLst>
                <a:path h="1458915" w="5999270">
                  <a:moveTo>
                    <a:pt x="0" y="0"/>
                  </a:moveTo>
                  <a:lnTo>
                    <a:pt x="5999270" y="0"/>
                  </a:lnTo>
                  <a:lnTo>
                    <a:pt x="5999270" y="1458915"/>
                  </a:lnTo>
                  <a:lnTo>
                    <a:pt x="0" y="1458915"/>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9" id="9"/>
          <p:cNvSpPr txBox="true"/>
          <p:nvPr/>
        </p:nvSpPr>
        <p:spPr>
          <a:xfrm rot="0">
            <a:off x="3343782" y="4457700"/>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0" id="10"/>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5768744"/>
            <a:chOff x="0" y="0"/>
            <a:chExt cx="5999270" cy="2104453"/>
          </a:xfrm>
        </p:grpSpPr>
        <p:sp>
          <p:nvSpPr>
            <p:cNvPr name="Freeform 6" id="6"/>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DFS</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3267609"/>
            <a:chOff x="0" y="0"/>
            <a:chExt cx="19873832" cy="4356812"/>
          </a:xfrm>
        </p:grpSpPr>
        <p:sp>
          <p:nvSpPr>
            <p:cNvPr name="TextBox 15" id="15"/>
            <p:cNvSpPr txBox="true"/>
            <p:nvPr/>
          </p:nvSpPr>
          <p:spPr>
            <a:xfrm rot="0">
              <a:off x="0" y="1230071"/>
              <a:ext cx="19873832" cy="31267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Ta sẽ lần lượt điền các ô theo thứ tự từ trái sang phải, từ trên xuống dưới với các giá trị lần lượt từ 1 đến N</a:t>
              </a:r>
            </a:p>
            <a:p>
              <a:pPr algn="just" marL="777232" indent="-388616" lvl="1">
                <a:lnSpc>
                  <a:spcPts val="4679"/>
                </a:lnSpc>
                <a:buFont typeface="Arial"/>
                <a:buChar char="•"/>
              </a:pPr>
              <a:r>
                <a:rPr lang="en-US" sz="3599">
                  <a:solidFill>
                    <a:srgbClr val="000000"/>
                  </a:solidFill>
                  <a:latin typeface="Cabin"/>
                  <a:ea typeface="Cabin"/>
                  <a:cs typeface="Cabin"/>
                  <a:sym typeface="Cabin"/>
                </a:rPr>
                <a:t>Khi phát hiện một ô không có giá trị điền hợp lệ, ta sẽ quay lui lại tại ô được điền trước đó</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Ý tưởng</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3143906"/>
            <a:ext cx="16445245" cy="3999188"/>
            <a:chOff x="0" y="0"/>
            <a:chExt cx="5999270" cy="1458915"/>
          </a:xfrm>
        </p:grpSpPr>
        <p:sp>
          <p:nvSpPr>
            <p:cNvPr name="Freeform 4" id="4"/>
            <p:cNvSpPr/>
            <p:nvPr/>
          </p:nvSpPr>
          <p:spPr>
            <a:xfrm flipH="false" flipV="false" rot="0">
              <a:off x="0" y="0"/>
              <a:ext cx="5999270" cy="1458915"/>
            </a:xfrm>
            <a:custGeom>
              <a:avLst/>
              <a:gdLst/>
              <a:ahLst/>
              <a:cxnLst/>
              <a:rect r="r" b="b" t="t" l="l"/>
              <a:pathLst>
                <a:path h="1458915" w="5999270">
                  <a:moveTo>
                    <a:pt x="0" y="0"/>
                  </a:moveTo>
                  <a:lnTo>
                    <a:pt x="5999270" y="0"/>
                  </a:lnTo>
                  <a:lnTo>
                    <a:pt x="5999270" y="1458915"/>
                  </a:lnTo>
                  <a:lnTo>
                    <a:pt x="0" y="1458915"/>
                  </a:lnTo>
                  <a:close/>
                </a:path>
              </a:pathLst>
            </a:custGeom>
            <a:solidFill>
              <a:srgbClr val="FFFFFF"/>
            </a:solidFill>
          </p:spPr>
        </p:sp>
      </p:grpSp>
      <p:grpSp>
        <p:nvGrpSpPr>
          <p:cNvPr name="Group 5" id="5"/>
          <p:cNvGrpSpPr/>
          <p:nvPr/>
        </p:nvGrpSpPr>
        <p:grpSpPr>
          <a:xfrm rot="0">
            <a:off x="9908900" y="3235000"/>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7" id="7"/>
          <p:cNvGrpSpPr/>
          <p:nvPr/>
        </p:nvGrpSpPr>
        <p:grpSpPr>
          <a:xfrm rot="0">
            <a:off x="10055579" y="7995212"/>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9" id="9"/>
          <p:cNvSpPr txBox="true"/>
          <p:nvPr/>
        </p:nvSpPr>
        <p:spPr>
          <a:xfrm rot="0">
            <a:off x="3343782" y="4457700"/>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
        <p:nvSpPr>
          <p:cNvPr name="Freeform 10" id="10"/>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5768744"/>
            <a:chOff x="0" y="0"/>
            <a:chExt cx="5999270" cy="2104453"/>
          </a:xfrm>
        </p:grpSpPr>
        <p:sp>
          <p:nvSpPr>
            <p:cNvPr name="Freeform 6" id="6"/>
            <p:cNvSpPr/>
            <p:nvPr/>
          </p:nvSpPr>
          <p:spPr>
            <a:xfrm flipH="false" flipV="false" rot="0">
              <a:off x="0" y="0"/>
              <a:ext cx="5999270" cy="2104453"/>
            </a:xfrm>
            <a:custGeom>
              <a:avLst/>
              <a:gdLst/>
              <a:ahLst/>
              <a:cxnLst/>
              <a:rect r="r" b="b" t="t" l="l"/>
              <a:pathLst>
                <a:path h="2104453" w="5999270">
                  <a:moveTo>
                    <a:pt x="0" y="0"/>
                  </a:moveTo>
                  <a:lnTo>
                    <a:pt x="5999270" y="0"/>
                  </a:lnTo>
                  <a:lnTo>
                    <a:pt x="5999270" y="2104453"/>
                  </a:lnTo>
                  <a:lnTo>
                    <a:pt x="0" y="2104453"/>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TextBox 11" id="11"/>
          <p:cNvSpPr txBox="true"/>
          <p:nvPr/>
        </p:nvSpPr>
        <p:spPr>
          <a:xfrm rot="0">
            <a:off x="3343782" y="924697"/>
            <a:ext cx="11600436"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Giải thuật Heuristic</a:t>
            </a:r>
          </a:p>
        </p:txBody>
      </p:sp>
      <p:sp>
        <p:nvSpPr>
          <p:cNvPr name="Freeform 12" id="12"/>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71144" y="3298039"/>
            <a:ext cx="14905374" cy="5039259"/>
            <a:chOff x="0" y="0"/>
            <a:chExt cx="19873832" cy="6719012"/>
          </a:xfrm>
        </p:grpSpPr>
        <p:sp>
          <p:nvSpPr>
            <p:cNvPr name="TextBox 15" id="15"/>
            <p:cNvSpPr txBox="true"/>
            <p:nvPr/>
          </p:nvSpPr>
          <p:spPr>
            <a:xfrm rot="0">
              <a:off x="0" y="1230071"/>
              <a:ext cx="19873832" cy="5488941"/>
            </a:xfrm>
            <a:prstGeom prst="rect">
              <a:avLst/>
            </a:prstGeom>
          </p:spPr>
          <p:txBody>
            <a:bodyPr anchor="t" rtlCol="false" tIns="0" lIns="0" bIns="0" rIns="0">
              <a:spAutoFit/>
            </a:bodyPr>
            <a:lstStyle/>
            <a:p>
              <a:pPr algn="just" marL="777232" indent="-388616" lvl="1">
                <a:lnSpc>
                  <a:spcPts val="4679"/>
                </a:lnSpc>
                <a:buFont typeface="Arial"/>
                <a:buChar char="•"/>
              </a:pPr>
              <a:r>
                <a:rPr lang="en-US" sz="3599">
                  <a:solidFill>
                    <a:srgbClr val="000000"/>
                  </a:solidFill>
                  <a:latin typeface="Cabin"/>
                  <a:ea typeface="Cabin"/>
                  <a:cs typeface="Cabin"/>
                  <a:sym typeface="Cabin"/>
                </a:rPr>
                <a:t>Mỗi ô trống sẽ có những </a:t>
              </a:r>
              <a:r>
                <a:rPr lang="en-US" sz="3599">
                  <a:solidFill>
                    <a:srgbClr val="003EA8"/>
                  </a:solidFill>
                  <a:latin typeface="Cabin"/>
                  <a:ea typeface="Cabin"/>
                  <a:cs typeface="Cabin"/>
                  <a:sym typeface="Cabin"/>
                </a:rPr>
                <a:t>giá trị hợp lệ</a:t>
              </a:r>
              <a:r>
                <a:rPr lang="en-US" sz="3599">
                  <a:solidFill>
                    <a:srgbClr val="000000"/>
                  </a:solidFill>
                  <a:latin typeface="Cabin"/>
                  <a:ea typeface="Cabin"/>
                  <a:cs typeface="Cabin"/>
                  <a:sym typeface="Cabin"/>
                </a:rPr>
                <a:t> nhất định, và </a:t>
              </a:r>
              <a:r>
                <a:rPr lang="en-US" sz="3599">
                  <a:solidFill>
                    <a:srgbClr val="003EA8"/>
                  </a:solidFill>
                  <a:latin typeface="Cabin"/>
                  <a:ea typeface="Cabin"/>
                  <a:cs typeface="Cabin"/>
                  <a:sym typeface="Cabin"/>
                </a:rPr>
                <a:t>số lượng giá trị hợp lệ</a:t>
              </a:r>
              <a:r>
                <a:rPr lang="en-US" sz="3599">
                  <a:solidFill>
                    <a:srgbClr val="000000"/>
                  </a:solidFill>
                  <a:latin typeface="Cabin"/>
                  <a:ea typeface="Cabin"/>
                  <a:cs typeface="Cabin"/>
                  <a:sym typeface="Cabin"/>
                </a:rPr>
                <a:t> của mỗi ô trống tại mỗi thời điểm là</a:t>
              </a:r>
              <a:r>
                <a:rPr lang="en-US" sz="3599">
                  <a:solidFill>
                    <a:srgbClr val="003EA8"/>
                  </a:solidFill>
                  <a:latin typeface="Cabin"/>
                  <a:ea typeface="Cabin"/>
                  <a:cs typeface="Cabin"/>
                  <a:sym typeface="Cabin"/>
                </a:rPr>
                <a:t> khác nhau.</a:t>
              </a:r>
            </a:p>
            <a:p>
              <a:pPr algn="just" marL="777232" indent="-388616" lvl="1">
                <a:lnSpc>
                  <a:spcPts val="4679"/>
                </a:lnSpc>
                <a:buFont typeface="Arial"/>
                <a:buChar char="•"/>
              </a:pPr>
              <a:r>
                <a:rPr lang="en-US" sz="3599">
                  <a:solidFill>
                    <a:srgbClr val="000000"/>
                  </a:solidFill>
                  <a:latin typeface="Cabin"/>
                  <a:ea typeface="Cabin"/>
                  <a:cs typeface="Cabin"/>
                  <a:sym typeface="Cabin"/>
                </a:rPr>
                <a:t>Tìm hướng đi: Để tìm lời giải một cách nhanh nhất, ta sẽ ưu tiên rẽ nhánh theo những ô trống có số lượng giá trị hợp lệ là ít nhất</a:t>
              </a:r>
            </a:p>
            <a:p>
              <a:pPr algn="just" marL="777232" indent="-388616" lvl="1">
                <a:lnSpc>
                  <a:spcPts val="4679"/>
                </a:lnSpc>
                <a:buFont typeface="Arial"/>
                <a:buChar char="•"/>
              </a:pPr>
              <a:r>
                <a:rPr lang="en-US" sz="3599">
                  <a:solidFill>
                    <a:srgbClr val="000000"/>
                  </a:solidFill>
                  <a:latin typeface="Cabin"/>
                  <a:ea typeface="Cabin"/>
                  <a:cs typeface="Cabin"/>
                  <a:sym typeface="Cabin"/>
                </a:rPr>
                <a:t>Lan truyền ràng buộc: Sau khi điền một ô nhất định, ta sẽ cập nhật tập hợp giá trị hợp lệ của các ô khác mà chưa được điền giá trị. (đặc biệt là với các ô cùng hàng, cột, khối và lồng với ô vừa được điền)</a:t>
              </a:r>
            </a:p>
          </p:txBody>
        </p:sp>
        <p:sp>
          <p:nvSpPr>
            <p:cNvPr name="TextBox 16" id="16"/>
            <p:cNvSpPr txBox="true"/>
            <p:nvPr/>
          </p:nvSpPr>
          <p:spPr>
            <a:xfrm rot="0">
              <a:off x="0" y="-38100"/>
              <a:ext cx="19873832" cy="1045634"/>
            </a:xfrm>
            <a:prstGeom prst="rect">
              <a:avLst/>
            </a:prstGeom>
          </p:spPr>
          <p:txBody>
            <a:bodyPr anchor="t" rtlCol="false" tIns="0" lIns="0" bIns="0" rIns="0">
              <a:spAutoFit/>
            </a:bodyPr>
            <a:lstStyle/>
            <a:p>
              <a:pPr algn="ctr">
                <a:lnSpc>
                  <a:spcPts val="6499"/>
                </a:lnSpc>
              </a:pPr>
              <a:r>
                <a:rPr lang="en-US" b="true" sz="4999">
                  <a:solidFill>
                    <a:srgbClr val="003EA8"/>
                  </a:solidFill>
                  <a:latin typeface="Muli Bold"/>
                  <a:ea typeface="Muli Bold"/>
                  <a:cs typeface="Muli Bold"/>
                  <a:sym typeface="Muli Bold"/>
                </a:rPr>
                <a:t>Ý tưởng</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2" id="12"/>
          <p:cNvGraphicFramePr>
            <a:graphicFrameLocks noGrp="true"/>
          </p:cNvGraphicFramePr>
          <p:nvPr/>
        </p:nvGraphicFramePr>
        <p:xfrm>
          <a:off x="5004570" y="4639818"/>
          <a:ext cx="8247094" cy="3657600"/>
        </p:xfrm>
        <a:graphic>
          <a:graphicData uri="http://schemas.openxmlformats.org/drawingml/2006/table">
            <a:tbl>
              <a:tblPr/>
              <a:tblGrid>
                <a:gridCol w="2749031"/>
                <a:gridCol w="2749031"/>
                <a:gridCol w="2749031"/>
              </a:tblGrid>
              <a:tr h="1578543">
                <a:tc>
                  <a:txBody>
                    <a:bodyPr anchor="t" rtlCol="false"/>
                    <a:lstStyle/>
                    <a:p>
                      <a:pPr algn="ctr">
                        <a:lnSpc>
                          <a:spcPts val="42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Peak Memory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DFS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0.5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2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Heuristic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0.38 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65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691313" y="3318808"/>
            <a:ext cx="14905374" cy="1301751"/>
          </a:xfrm>
          <a:prstGeom prst="rect">
            <a:avLst/>
          </a:prstGeom>
        </p:spPr>
        <p:txBody>
          <a:bodyPr anchor="t" rtlCol="false" tIns="0" lIns="0" bIns="0" rIns="0">
            <a:spAutoFit/>
          </a:bodyPr>
          <a:lstStyle/>
          <a:p>
            <a:pPr algn="just">
              <a:lnSpc>
                <a:spcPts val="5199"/>
              </a:lnSpc>
            </a:pPr>
            <a:r>
              <a:rPr lang="en-US" sz="3999" b="true">
                <a:solidFill>
                  <a:srgbClr val="000000"/>
                </a:solidFill>
                <a:latin typeface="Cabin Bold"/>
                <a:ea typeface="Cabin Bold"/>
                <a:cs typeface="Cabin Bold"/>
                <a:sym typeface="Cabin Bold"/>
              </a:rPr>
              <a:t>Với ma trận </a:t>
            </a:r>
            <a:r>
              <a:rPr lang="en-US" sz="3999" b="true">
                <a:solidFill>
                  <a:srgbClr val="003EA8"/>
                </a:solidFill>
                <a:latin typeface="Cabin Bold"/>
                <a:ea typeface="Cabin Bold"/>
                <a:cs typeface="Cabin Bold"/>
                <a:sym typeface="Cabin Bold"/>
              </a:rPr>
              <a:t>4 x 4</a:t>
            </a:r>
            <a:r>
              <a:rPr lang="en-US" sz="3999" b="true">
                <a:solidFill>
                  <a:srgbClr val="000000"/>
                </a:solidFill>
                <a:latin typeface="Cabin Bold"/>
                <a:ea typeface="Cabin Bold"/>
                <a:cs typeface="Cabin Bold"/>
                <a:sym typeface="Cabin Bold"/>
              </a:rPr>
              <a:t>, ta có kết quả chạy như sau:</a:t>
            </a:r>
          </a:p>
          <a:p>
            <a:pPr algn="just">
              <a:lnSpc>
                <a:spcPts val="5199"/>
              </a:lnSpc>
            </a:pPr>
          </a:p>
        </p:txBody>
      </p:sp>
      <p:sp>
        <p:nvSpPr>
          <p:cNvPr name="TextBox 14" id="14"/>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So sánh 2 thuật toán</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05495" y="2915205"/>
            <a:ext cx="16445245" cy="7106825"/>
            <a:chOff x="0" y="0"/>
            <a:chExt cx="5999270" cy="2592589"/>
          </a:xfrm>
        </p:grpSpPr>
        <p:sp>
          <p:nvSpPr>
            <p:cNvPr name="Freeform 6" id="6"/>
            <p:cNvSpPr/>
            <p:nvPr/>
          </p:nvSpPr>
          <p:spPr>
            <a:xfrm flipH="false" flipV="false" rot="0">
              <a:off x="0" y="0"/>
              <a:ext cx="5999270" cy="2592589"/>
            </a:xfrm>
            <a:custGeom>
              <a:avLst/>
              <a:gdLst/>
              <a:ahLst/>
              <a:cxnLst/>
              <a:rect r="r" b="b" t="t" l="l"/>
              <a:pathLst>
                <a:path h="2592589" w="5999270">
                  <a:moveTo>
                    <a:pt x="0" y="0"/>
                  </a:moveTo>
                  <a:lnTo>
                    <a:pt x="5999270" y="0"/>
                  </a:lnTo>
                  <a:lnTo>
                    <a:pt x="5999270" y="2592589"/>
                  </a:lnTo>
                  <a:lnTo>
                    <a:pt x="0" y="2592589"/>
                  </a:lnTo>
                  <a:close/>
                </a:path>
              </a:pathLst>
            </a:custGeom>
            <a:solidFill>
              <a:srgbClr val="FFFFFF"/>
            </a:solidFill>
          </p:spPr>
        </p:sp>
      </p:grpSp>
      <p:grpSp>
        <p:nvGrpSpPr>
          <p:cNvPr name="Group 7" id="7"/>
          <p:cNvGrpSpPr/>
          <p:nvPr/>
        </p:nvGrpSpPr>
        <p:grpSpPr>
          <a:xfrm rot="0">
            <a:off x="9908900" y="3235000"/>
            <a:ext cx="121908" cy="12190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grpSp>
        <p:nvGrpSpPr>
          <p:cNvPr name="Group 9" id="9"/>
          <p:cNvGrpSpPr/>
          <p:nvPr/>
        </p:nvGrpSpPr>
        <p:grpSpPr>
          <a:xfrm rot="0">
            <a:off x="10055579" y="7995212"/>
            <a:ext cx="121908" cy="121908"/>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p:spPr>
        </p:sp>
      </p:grpSp>
      <p:sp>
        <p:nvSpPr>
          <p:cNvPr name="Freeform 11" id="11"/>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2" id="12"/>
          <p:cNvGraphicFramePr>
            <a:graphicFrameLocks noGrp="true"/>
          </p:cNvGraphicFramePr>
          <p:nvPr/>
        </p:nvGraphicFramePr>
        <p:xfrm>
          <a:off x="5004570" y="4639818"/>
          <a:ext cx="8247094" cy="3657600"/>
        </p:xfrm>
        <a:graphic>
          <a:graphicData uri="http://schemas.openxmlformats.org/drawingml/2006/table">
            <a:tbl>
              <a:tblPr/>
              <a:tblGrid>
                <a:gridCol w="2749031"/>
                <a:gridCol w="2749031"/>
                <a:gridCol w="2749031"/>
              </a:tblGrid>
              <a:tr h="1578543">
                <a:tc>
                  <a:txBody>
                    <a:bodyPr anchor="t" rtlCol="false"/>
                    <a:lstStyle/>
                    <a:p>
                      <a:pPr algn="ctr">
                        <a:lnSpc>
                          <a:spcPts val="42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Peak Memory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DFS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19.38 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7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9528">
                <a:tc>
                  <a:txBody>
                    <a:bodyPr anchor="t" rtlCol="false"/>
                    <a:lstStyle/>
                    <a:p>
                      <a:pPr algn="ctr">
                        <a:lnSpc>
                          <a:spcPts val="4200"/>
                        </a:lnSpc>
                        <a:defRPr/>
                      </a:pPr>
                      <a:r>
                        <a:rPr lang="en-US" sz="3000" b="true">
                          <a:solidFill>
                            <a:srgbClr val="003EA8"/>
                          </a:solidFill>
                          <a:latin typeface="Muli Bold"/>
                          <a:ea typeface="Muli Bold"/>
                          <a:cs typeface="Muli Bold"/>
                          <a:sym typeface="Muli Bold"/>
                        </a:rPr>
                        <a:t>Heuristic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7.2918 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Muli"/>
                          <a:ea typeface="Muli"/>
                          <a:cs typeface="Muli"/>
                          <a:sym typeface="Muli"/>
                        </a:rPr>
                        <a:t>~ 2400 KB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691313" y="3318808"/>
            <a:ext cx="14905374" cy="1301751"/>
          </a:xfrm>
          <a:prstGeom prst="rect">
            <a:avLst/>
          </a:prstGeom>
        </p:spPr>
        <p:txBody>
          <a:bodyPr anchor="t" rtlCol="false" tIns="0" lIns="0" bIns="0" rIns="0">
            <a:spAutoFit/>
          </a:bodyPr>
          <a:lstStyle/>
          <a:p>
            <a:pPr algn="just">
              <a:lnSpc>
                <a:spcPts val="5199"/>
              </a:lnSpc>
            </a:pPr>
            <a:r>
              <a:rPr lang="en-US" sz="3999" b="true">
                <a:solidFill>
                  <a:srgbClr val="000000"/>
                </a:solidFill>
                <a:latin typeface="Cabin Bold"/>
                <a:ea typeface="Cabin Bold"/>
                <a:cs typeface="Cabin Bold"/>
                <a:sym typeface="Cabin Bold"/>
              </a:rPr>
              <a:t>Với ma trận </a:t>
            </a:r>
            <a:r>
              <a:rPr lang="en-US" sz="3999" b="true">
                <a:solidFill>
                  <a:srgbClr val="003EA8"/>
                </a:solidFill>
                <a:latin typeface="Cabin Bold"/>
                <a:ea typeface="Cabin Bold"/>
                <a:cs typeface="Cabin Bold"/>
                <a:sym typeface="Cabin Bold"/>
              </a:rPr>
              <a:t>9 x 9</a:t>
            </a:r>
            <a:r>
              <a:rPr lang="en-US" sz="3999" b="true">
                <a:solidFill>
                  <a:srgbClr val="000000"/>
                </a:solidFill>
                <a:latin typeface="Cabin Bold"/>
                <a:ea typeface="Cabin Bold"/>
                <a:cs typeface="Cabin Bold"/>
                <a:sym typeface="Cabin Bold"/>
              </a:rPr>
              <a:t>, ta có kết quả chạy như sau:</a:t>
            </a:r>
          </a:p>
          <a:p>
            <a:pPr algn="just">
              <a:lnSpc>
                <a:spcPts val="5199"/>
              </a:lnSpc>
            </a:pPr>
          </a:p>
        </p:txBody>
      </p:sp>
      <p:sp>
        <p:nvSpPr>
          <p:cNvPr name="TextBox 14" id="14"/>
          <p:cNvSpPr txBox="true"/>
          <p:nvPr/>
        </p:nvSpPr>
        <p:spPr>
          <a:xfrm rot="0">
            <a:off x="2140521" y="924664"/>
            <a:ext cx="14006958"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So sánh 2 thuật toán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DAHE2PXCis8</dc:identifier>
  <dcterms:modified xsi:type="dcterms:W3CDTF">2011-08-01T06:04:30Z</dcterms:modified>
  <cp:revision>1</cp:revision>
  <dc:title>Bài tập lớn 1 Nhập môn AI</dc:title>
</cp:coreProperties>
</file>